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9606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classifying 17 types of jute pests from images, but unlike the original papers, we are not allowed to use neural networks in this course. Our goal is to build a completely non-neural pipeline using handcrafted image features and classical machine-learning algorithms from class.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 work on this jute-pest problem is dominated by transfer learning and deep feature extraction. JutePestDetect reported about 99% accuracy with DenseNet201, and a later paper used DenseNet and DarkNet features before SVM. Our distinction is that neural networks are excluded from the entire pipeline. We will create features ourselves and compare classical classifiers taught in CS 590.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download contains 7,236 image files, split into 6,444 train, 413 validation, and 379 test images across 17 classes. The training classes are imbalanced, from 199 to 676 images. During our initial audit we also found 96 exact duplicate groups crossing the supplied splits, including 17 test images that duplicate train or validation images. That motivates a cleaned evaluation in addition to the original split.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step is feature extraction. Classical classifiers cannot take an image folder directly, so we convert every image into a numerical vector. HOG describes shape and edge direction, HSV histograms describe color, and LBP describes texture. After scaling, and optionally PCA, we compare logistic regression, KNN, SVM, decision trees, and random forests. Neural networks are not used anywhere.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the experiments to answer scientific questions, not just rank algorithms. First, which visual feature family is actually useful? Second, which classifier works best? Third, can PCA reduce the feature vector without losing much performance? Fourth, does class weighting help the smaller classes? Finally, because our audit found duplicates across splits, we will compare the supplied evaluation with a leakage-free evaluation. Macro-F1 will be a key metric because the classes are imbalanced.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we want three contributions: a fully classical benchmark, an analysis of which handcrafted features matter most, and a more trustworthy evaluation that accounts for imbalance and duplicate leakage. Our next step is to finish the audit and feature extraction, then run the baseline models, tune them, and finish with error analysis and a confusion matrix.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sources supporting the dataset description, the deep-learning baseline literature, and the course methodology.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5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D9A441"/>
          </a:solidFill>
          <a:ln w="12700">
            <a:solidFill>
              <a:srgbClr val="D9A441"/>
            </a:solidFill>
            <a:prstDash val="solid"/>
          </a:ln>
        </p:spPr>
      </p:sp>
      <p:sp>
        <p:nvSpPr>
          <p:cNvPr id="3" name="Shape 1"/>
          <p:cNvSpPr/>
          <p:nvPr/>
        </p:nvSpPr>
        <p:spPr>
          <a:xfrm>
            <a:off x="411480" y="6565392"/>
            <a:ext cx="11365992" cy="0"/>
          </a:xfrm>
          <a:prstGeom prst="line">
            <a:avLst/>
          </a:prstGeom>
          <a:noFill/>
          <a:ln w="10160">
            <a:solidFill>
              <a:srgbClr val="D8D5CA"/>
            </a:solidFill>
            <a:prstDash val="solid"/>
          </a:ln>
        </p:spPr>
      </p:sp>
      <p:sp>
        <p:nvSpPr>
          <p:cNvPr id="4" name="Text 2"/>
          <p:cNvSpPr/>
          <p:nvPr/>
        </p:nvSpPr>
        <p:spPr>
          <a:xfrm>
            <a:off x="438912" y="6583680"/>
            <a:ext cx="4754880" cy="164592"/>
          </a:xfrm>
          <a:prstGeom prst="rect">
            <a:avLst/>
          </a:prstGeom>
          <a:noFill/>
          <a:ln/>
        </p:spPr>
        <p:txBody>
          <a:bodyPr wrap="square" lIns="0" tIns="0" rIns="0" bIns="0" rtlCol="0" anchor="ctr"/>
          <a:lstStyle/>
          <a:p>
            <a:pPr marL="0" indent="0">
              <a:buNone/>
            </a:pPr>
            <a:r>
              <a:rPr lang="en-US" sz="800" dirty="0">
                <a:solidFill>
                  <a:srgbClr val="788078"/>
                </a:solidFill>
                <a:latin typeface="Aptos" pitchFamily="34" charset="0"/>
                <a:ea typeface="Aptos" pitchFamily="34" charset="-122"/>
                <a:cs typeface="Aptos" pitchFamily="34" charset="-120"/>
              </a:rPr>
              <a:t>CS 590 • Machine Learning • Fall 2026</a:t>
            </a:r>
            <a:endParaRPr lang="en-US" sz="800" dirty="0"/>
          </a:p>
        </p:txBody>
      </p:sp>
      <p:sp>
        <p:nvSpPr>
          <p:cNvPr id="25" name="Slide Number Placeholder 0"/>
          <p:cNvSpPr>
            <a:spLocks noGrp="1"/>
          </p:cNvSpPr>
          <p:nvPr>
            <p:ph type="sldNum" sz="quarter" idx="4294967295"/>
          </p:nvPr>
        </p:nvSpPr>
        <p:spPr>
          <a:xfrm>
            <a:off x="11292840" y="6574536"/>
            <a:ext cx="41148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788078"/>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74536"/>
            <a:ext cx="41148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788078"/>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3.jpg"/><Relationship Id="rId7"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5.jpg"/><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B2E"/>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A441"/>
          </a:solidFill>
          <a:ln w="12700">
            <a:solidFill>
              <a:srgbClr val="D9A441"/>
            </a:solidFill>
            <a:prstDash val="solid"/>
          </a:ln>
        </p:spPr>
        <p:txBody>
          <a:bodyPr/>
          <a:lstStyle/>
          <a:p>
            <a:endParaRPr lang="en-US"/>
          </a:p>
        </p:txBody>
      </p:sp>
      <p:sp>
        <p:nvSpPr>
          <p:cNvPr id="3" name="Text 1"/>
          <p:cNvSpPr/>
          <p:nvPr/>
        </p:nvSpPr>
        <p:spPr>
          <a:xfrm>
            <a:off x="594360" y="566928"/>
            <a:ext cx="4206240" cy="256032"/>
          </a:xfrm>
          <a:prstGeom prst="rect">
            <a:avLst/>
          </a:prstGeom>
          <a:noFill/>
          <a:ln/>
        </p:spPr>
        <p:txBody>
          <a:bodyPr wrap="square" lIns="0" tIns="0" rIns="0" bIns="0" rtlCol="0" anchor="ctr"/>
          <a:lstStyle/>
          <a:p>
            <a:pPr marL="0" indent="0">
              <a:buNone/>
            </a:pPr>
            <a:r>
              <a:rPr lang="en-US" sz="1100" b="1" dirty="0">
                <a:solidFill>
                  <a:srgbClr val="F3DCA1"/>
                </a:solidFill>
              </a:rPr>
              <a:t>CS 590 PROJECT PROPOSAL</a:t>
            </a:r>
            <a:endParaRPr lang="en-US" sz="1100" dirty="0"/>
          </a:p>
        </p:txBody>
      </p:sp>
      <p:sp>
        <p:nvSpPr>
          <p:cNvPr id="4" name="Text 2"/>
          <p:cNvSpPr/>
          <p:nvPr/>
        </p:nvSpPr>
        <p:spPr>
          <a:xfrm>
            <a:off x="594360" y="1115568"/>
            <a:ext cx="5852160" cy="1444752"/>
          </a:xfrm>
          <a:prstGeom prst="rect">
            <a:avLst/>
          </a:prstGeom>
          <a:noFill/>
          <a:ln/>
        </p:spPr>
        <p:txBody>
          <a:bodyPr wrap="square" lIns="0" tIns="0" rIns="0" bIns="0" rtlCol="0" anchor="ctr">
            <a:normAutofit/>
          </a:bodyPr>
          <a:lstStyle/>
          <a:p>
            <a:pPr marL="0" indent="0">
              <a:buNone/>
            </a:pPr>
            <a:r>
              <a:rPr lang="en-US" sz="3000" b="1" dirty="0">
                <a:solidFill>
                  <a:srgbClr val="FFFFFF"/>
                </a:solidFill>
              </a:rPr>
              <a:t>Jute Pest Classification</a:t>
            </a:r>
            <a:endParaRPr lang="en-US" sz="3000" dirty="0"/>
          </a:p>
          <a:p>
            <a:pPr marL="0" indent="0">
              <a:buNone/>
            </a:pPr>
            <a:r>
              <a:rPr lang="en-US" sz="3000" b="1" dirty="0">
                <a:solidFill>
                  <a:srgbClr val="FFFFFF"/>
                </a:solidFill>
              </a:rPr>
              <a:t>Without Deep Learning</a:t>
            </a:r>
            <a:endParaRPr lang="en-US" sz="3000" dirty="0"/>
          </a:p>
        </p:txBody>
      </p:sp>
      <p:sp>
        <p:nvSpPr>
          <p:cNvPr id="5" name="Text 3"/>
          <p:cNvSpPr/>
          <p:nvPr/>
        </p:nvSpPr>
        <p:spPr>
          <a:xfrm>
            <a:off x="621792" y="2743200"/>
            <a:ext cx="5394960" cy="365760"/>
          </a:xfrm>
          <a:prstGeom prst="rect">
            <a:avLst/>
          </a:prstGeom>
          <a:noFill/>
          <a:ln/>
        </p:spPr>
        <p:txBody>
          <a:bodyPr wrap="square" lIns="0" tIns="0" rIns="0" bIns="0" rtlCol="0" anchor="ctr"/>
          <a:lstStyle/>
          <a:p>
            <a:pPr marL="0" indent="0">
              <a:buNone/>
            </a:pPr>
            <a:r>
              <a:rPr lang="en-US" sz="1600" dirty="0">
                <a:solidFill>
                  <a:srgbClr val="D9E7DE"/>
                </a:solidFill>
              </a:rPr>
              <a:t>Classical machine learning with handcrafted image features</a:t>
            </a:r>
            <a:endParaRPr lang="en-US" sz="1600" dirty="0"/>
          </a:p>
        </p:txBody>
      </p:sp>
      <p:sp>
        <p:nvSpPr>
          <p:cNvPr id="6" name="Shape 4"/>
          <p:cNvSpPr/>
          <p:nvPr/>
        </p:nvSpPr>
        <p:spPr>
          <a:xfrm>
            <a:off x="603504" y="3310128"/>
            <a:ext cx="5394960" cy="1143000"/>
          </a:xfrm>
          <a:prstGeom prst="roundRect">
            <a:avLst>
              <a:gd name="adj" fmla="val 8000"/>
            </a:avLst>
          </a:prstGeom>
          <a:solidFill>
            <a:srgbClr val="214B3B">
              <a:alpha val="95000"/>
            </a:srgbClr>
          </a:solidFill>
          <a:ln w="12700">
            <a:solidFill>
              <a:srgbClr val="4C7663"/>
            </a:solidFill>
            <a:prstDash val="solid"/>
          </a:ln>
        </p:spPr>
        <p:txBody>
          <a:bodyPr/>
          <a:lstStyle/>
          <a:p>
            <a:endParaRPr lang="en-US"/>
          </a:p>
        </p:txBody>
      </p:sp>
      <p:sp>
        <p:nvSpPr>
          <p:cNvPr id="7" name="Text 5"/>
          <p:cNvSpPr/>
          <p:nvPr/>
        </p:nvSpPr>
        <p:spPr>
          <a:xfrm>
            <a:off x="822960" y="3511296"/>
            <a:ext cx="1828800" cy="219456"/>
          </a:xfrm>
          <a:prstGeom prst="rect">
            <a:avLst/>
          </a:prstGeom>
          <a:noFill/>
          <a:ln/>
        </p:spPr>
        <p:txBody>
          <a:bodyPr wrap="square" lIns="0" tIns="0" rIns="0" bIns="0" rtlCol="0" anchor="ctr"/>
          <a:lstStyle/>
          <a:p>
            <a:pPr marL="0" indent="0">
              <a:buNone/>
            </a:pPr>
            <a:r>
              <a:rPr lang="en-US" sz="1000" b="1" dirty="0">
                <a:solidFill>
                  <a:srgbClr val="F3DCA1"/>
                </a:solidFill>
              </a:rPr>
              <a:t>Research question</a:t>
            </a:r>
            <a:endParaRPr lang="en-US" sz="1000" dirty="0"/>
          </a:p>
        </p:txBody>
      </p:sp>
      <p:sp>
        <p:nvSpPr>
          <p:cNvPr id="8" name="Text 6"/>
          <p:cNvSpPr/>
          <p:nvPr/>
        </p:nvSpPr>
        <p:spPr>
          <a:xfrm>
            <a:off x="822960" y="3767328"/>
            <a:ext cx="4754880" cy="512064"/>
          </a:xfrm>
          <a:prstGeom prst="rect">
            <a:avLst/>
          </a:prstGeom>
          <a:noFill/>
          <a:ln/>
        </p:spPr>
        <p:txBody>
          <a:bodyPr wrap="square" lIns="0" tIns="0" rIns="0" bIns="0" rtlCol="0" anchor="ctr">
            <a:normAutofit fontScale="85000" lnSpcReduction="20000"/>
          </a:bodyPr>
          <a:lstStyle/>
          <a:p>
            <a:pPr marL="0" indent="0">
              <a:buNone/>
            </a:pPr>
            <a:r>
              <a:rPr lang="en-US" sz="1500" b="1" dirty="0">
                <a:solidFill>
                  <a:srgbClr val="FFFFFF"/>
                </a:solidFill>
              </a:rPr>
              <a:t>How accurately can course-based classical ML classify 17 jute pests using shape, color, and texture features instead of neural networks?</a:t>
            </a:r>
            <a:endParaRPr lang="en-US" sz="1500" dirty="0"/>
          </a:p>
        </p:txBody>
      </p:sp>
      <p:sp>
        <p:nvSpPr>
          <p:cNvPr id="9" name="Shape 7"/>
          <p:cNvSpPr/>
          <p:nvPr/>
        </p:nvSpPr>
        <p:spPr>
          <a:xfrm>
            <a:off x="621792" y="4956048"/>
            <a:ext cx="3063240" cy="310896"/>
          </a:xfrm>
          <a:prstGeom prst="roundRect">
            <a:avLst>
              <a:gd name="adj" fmla="val 23529"/>
            </a:avLst>
          </a:prstGeom>
          <a:solidFill>
            <a:srgbClr val="F4EAD1"/>
          </a:solidFill>
          <a:ln w="12700">
            <a:solidFill>
              <a:srgbClr val="F4EAD1"/>
            </a:solidFill>
            <a:prstDash val="solid"/>
          </a:ln>
        </p:spPr>
        <p:txBody>
          <a:bodyPr/>
          <a:lstStyle/>
          <a:p>
            <a:endParaRPr lang="en-US"/>
          </a:p>
        </p:txBody>
      </p:sp>
      <p:sp>
        <p:nvSpPr>
          <p:cNvPr id="10" name="Text 8"/>
          <p:cNvSpPr/>
          <p:nvPr/>
        </p:nvSpPr>
        <p:spPr>
          <a:xfrm>
            <a:off x="694944" y="5006340"/>
            <a:ext cx="2916936" cy="182880"/>
          </a:xfrm>
          <a:prstGeom prst="rect">
            <a:avLst/>
          </a:prstGeom>
          <a:noFill/>
          <a:ln/>
        </p:spPr>
        <p:txBody>
          <a:bodyPr wrap="square" lIns="0" tIns="0" rIns="0" bIns="0" rtlCol="0" anchor="ctr"/>
          <a:lstStyle/>
          <a:p>
            <a:pPr marL="0" indent="0" algn="ctr">
              <a:buNone/>
            </a:pPr>
            <a:r>
              <a:rPr lang="en-US" sz="1000" b="1" dirty="0">
                <a:solidFill>
                  <a:srgbClr val="163B2E"/>
                </a:solidFill>
              </a:rPr>
              <a:t>Obinna Ndubuisi &amp; Luke </a:t>
            </a:r>
            <a:r>
              <a:rPr lang="en-US" sz="1000" b="1" dirty="0" err="1">
                <a:solidFill>
                  <a:srgbClr val="163B2E"/>
                </a:solidFill>
              </a:rPr>
              <a:t>Laurenzaza</a:t>
            </a:r>
            <a:endParaRPr lang="en-US" sz="1000" dirty="0"/>
          </a:p>
        </p:txBody>
      </p:sp>
      <p:sp>
        <p:nvSpPr>
          <p:cNvPr id="11" name="Text 9"/>
          <p:cNvSpPr/>
          <p:nvPr/>
        </p:nvSpPr>
        <p:spPr>
          <a:xfrm>
            <a:off x="630936" y="5413248"/>
            <a:ext cx="5212080" cy="274320"/>
          </a:xfrm>
          <a:prstGeom prst="rect">
            <a:avLst/>
          </a:prstGeom>
          <a:noFill/>
          <a:ln/>
        </p:spPr>
        <p:txBody>
          <a:bodyPr wrap="square" lIns="0" tIns="0" rIns="0" bIns="0" rtlCol="0" anchor="ctr"/>
          <a:lstStyle/>
          <a:p>
            <a:pPr marL="0" indent="0">
              <a:buNone/>
            </a:pPr>
            <a:r>
              <a:rPr lang="en-US" sz="1100" dirty="0">
                <a:solidFill>
                  <a:srgbClr val="CADBD1"/>
                </a:solidFill>
              </a:rPr>
              <a:t>Southern Illinois University Edwardsville • Fall 2026</a:t>
            </a:r>
            <a:endParaRPr lang="en-US" sz="1100" dirty="0"/>
          </a:p>
        </p:txBody>
      </p:sp>
      <p:sp>
        <p:nvSpPr>
          <p:cNvPr id="12" name="Shape 10"/>
          <p:cNvSpPr/>
          <p:nvPr/>
        </p:nvSpPr>
        <p:spPr>
          <a:xfrm>
            <a:off x="6629400" y="566928"/>
            <a:ext cx="2304288" cy="1874520"/>
          </a:xfrm>
          <a:prstGeom prst="roundRect">
            <a:avLst>
              <a:gd name="adj" fmla="val 4878"/>
            </a:avLst>
          </a:prstGeom>
          <a:solidFill>
            <a:srgbClr val="FFFFFF"/>
          </a:solidFill>
          <a:ln w="10160">
            <a:solidFill>
              <a:srgbClr val="D8D5CA"/>
            </a:solidFill>
            <a:prstDash val="solid"/>
          </a:ln>
        </p:spPr>
        <p:txBody>
          <a:bodyPr/>
          <a:lstStyle/>
          <a:p>
            <a:endParaRPr lang="en-US"/>
          </a:p>
        </p:txBody>
      </p:sp>
      <p:pic>
        <p:nvPicPr>
          <p:cNvPr id="13" name="Image 0" descr="/mnt/data/jute_samples/Beet_Armyworm.jpg"/>
          <p:cNvPicPr>
            <a:picLocks noChangeAspect="1"/>
          </p:cNvPicPr>
          <p:nvPr/>
        </p:nvPicPr>
        <p:blipFill>
          <a:blip r:embed="rId3"/>
          <a:srcRect t="16322" b="16322"/>
          <a:stretch/>
        </p:blipFill>
        <p:spPr>
          <a:xfrm>
            <a:off x="6675120" y="612648"/>
            <a:ext cx="2212848" cy="1490472"/>
          </a:xfrm>
          <a:prstGeom prst="rect">
            <a:avLst/>
          </a:prstGeom>
        </p:spPr>
      </p:pic>
      <p:sp>
        <p:nvSpPr>
          <p:cNvPr id="14" name="Text 11"/>
          <p:cNvSpPr/>
          <p:nvPr/>
        </p:nvSpPr>
        <p:spPr>
          <a:xfrm>
            <a:off x="6702552" y="2167128"/>
            <a:ext cx="2157984" cy="164592"/>
          </a:xfrm>
          <a:prstGeom prst="rect">
            <a:avLst/>
          </a:prstGeom>
          <a:noFill/>
          <a:ln/>
        </p:spPr>
        <p:txBody>
          <a:bodyPr wrap="square" lIns="0" tIns="0" rIns="0" bIns="0" rtlCol="0" anchor="ctr">
            <a:normAutofit/>
          </a:bodyPr>
          <a:lstStyle/>
          <a:p>
            <a:pPr marL="0" indent="0" algn="ctr">
              <a:buNone/>
            </a:pPr>
            <a:r>
              <a:rPr lang="en-US" sz="950" b="1" dirty="0">
                <a:solidFill>
                  <a:srgbClr val="1B2520"/>
                </a:solidFill>
              </a:rPr>
              <a:t>Beet Armyworm</a:t>
            </a:r>
            <a:endParaRPr lang="en-US" sz="950" dirty="0"/>
          </a:p>
        </p:txBody>
      </p:sp>
      <p:sp>
        <p:nvSpPr>
          <p:cNvPr id="15" name="Shape 12"/>
          <p:cNvSpPr/>
          <p:nvPr/>
        </p:nvSpPr>
        <p:spPr>
          <a:xfrm>
            <a:off x="9079992" y="566928"/>
            <a:ext cx="2304288" cy="1874520"/>
          </a:xfrm>
          <a:prstGeom prst="roundRect">
            <a:avLst>
              <a:gd name="adj" fmla="val 4878"/>
            </a:avLst>
          </a:prstGeom>
          <a:solidFill>
            <a:srgbClr val="FFFFFF"/>
          </a:solidFill>
          <a:ln w="10160">
            <a:solidFill>
              <a:srgbClr val="D8D5CA"/>
            </a:solidFill>
            <a:prstDash val="solid"/>
          </a:ln>
        </p:spPr>
        <p:txBody>
          <a:bodyPr/>
          <a:lstStyle/>
          <a:p>
            <a:endParaRPr lang="en-US"/>
          </a:p>
        </p:txBody>
      </p:sp>
      <p:pic>
        <p:nvPicPr>
          <p:cNvPr id="16" name="Image 1" descr="/mnt/data/jute_samples/Field_Cricket.jpg"/>
          <p:cNvPicPr>
            <a:picLocks noChangeAspect="1"/>
          </p:cNvPicPr>
          <p:nvPr/>
        </p:nvPicPr>
        <p:blipFill>
          <a:blip r:embed="rId4"/>
          <a:srcRect t="16322" b="16322"/>
          <a:stretch/>
        </p:blipFill>
        <p:spPr>
          <a:xfrm>
            <a:off x="9125712" y="612648"/>
            <a:ext cx="2212848" cy="1490472"/>
          </a:xfrm>
          <a:prstGeom prst="rect">
            <a:avLst/>
          </a:prstGeom>
        </p:spPr>
      </p:pic>
      <p:sp>
        <p:nvSpPr>
          <p:cNvPr id="17" name="Text 13"/>
          <p:cNvSpPr/>
          <p:nvPr/>
        </p:nvSpPr>
        <p:spPr>
          <a:xfrm>
            <a:off x="9153144" y="2167128"/>
            <a:ext cx="2157984" cy="164592"/>
          </a:xfrm>
          <a:prstGeom prst="rect">
            <a:avLst/>
          </a:prstGeom>
          <a:noFill/>
          <a:ln/>
        </p:spPr>
        <p:txBody>
          <a:bodyPr wrap="square" lIns="0" tIns="0" rIns="0" bIns="0" rtlCol="0" anchor="ctr">
            <a:normAutofit/>
          </a:bodyPr>
          <a:lstStyle/>
          <a:p>
            <a:pPr marL="0" indent="0" algn="ctr">
              <a:buNone/>
            </a:pPr>
            <a:r>
              <a:rPr lang="en-US" sz="950" b="1" dirty="0">
                <a:solidFill>
                  <a:srgbClr val="1B2520"/>
                </a:solidFill>
              </a:rPr>
              <a:t>Field Cricket</a:t>
            </a:r>
            <a:endParaRPr lang="en-US" sz="950" dirty="0"/>
          </a:p>
        </p:txBody>
      </p:sp>
      <p:sp>
        <p:nvSpPr>
          <p:cNvPr id="18" name="Shape 14"/>
          <p:cNvSpPr/>
          <p:nvPr/>
        </p:nvSpPr>
        <p:spPr>
          <a:xfrm>
            <a:off x="6629400" y="2624328"/>
            <a:ext cx="2304288" cy="1874520"/>
          </a:xfrm>
          <a:prstGeom prst="roundRect">
            <a:avLst>
              <a:gd name="adj" fmla="val 4878"/>
            </a:avLst>
          </a:prstGeom>
          <a:solidFill>
            <a:srgbClr val="FFFFFF"/>
          </a:solidFill>
          <a:ln w="10160">
            <a:solidFill>
              <a:srgbClr val="D8D5CA"/>
            </a:solidFill>
            <a:prstDash val="solid"/>
          </a:ln>
        </p:spPr>
        <p:txBody>
          <a:bodyPr/>
          <a:lstStyle/>
          <a:p>
            <a:endParaRPr lang="en-US"/>
          </a:p>
        </p:txBody>
      </p:sp>
      <p:pic>
        <p:nvPicPr>
          <p:cNvPr id="19" name="Image 2" descr="/mnt/data/jute_samples/Jute_Red_Mite.jpg"/>
          <p:cNvPicPr>
            <a:picLocks noChangeAspect="1"/>
          </p:cNvPicPr>
          <p:nvPr/>
        </p:nvPicPr>
        <p:blipFill>
          <a:blip r:embed="rId5"/>
          <a:srcRect t="26005" b="26005"/>
          <a:stretch/>
        </p:blipFill>
        <p:spPr>
          <a:xfrm>
            <a:off x="6675120" y="2670048"/>
            <a:ext cx="2212848" cy="1490472"/>
          </a:xfrm>
          <a:prstGeom prst="rect">
            <a:avLst/>
          </a:prstGeom>
        </p:spPr>
      </p:pic>
      <p:sp>
        <p:nvSpPr>
          <p:cNvPr id="20" name="Text 15"/>
          <p:cNvSpPr/>
          <p:nvPr/>
        </p:nvSpPr>
        <p:spPr>
          <a:xfrm>
            <a:off x="6702552" y="4224528"/>
            <a:ext cx="2157984" cy="164592"/>
          </a:xfrm>
          <a:prstGeom prst="rect">
            <a:avLst/>
          </a:prstGeom>
          <a:noFill/>
          <a:ln/>
        </p:spPr>
        <p:txBody>
          <a:bodyPr wrap="square" lIns="0" tIns="0" rIns="0" bIns="0" rtlCol="0" anchor="ctr">
            <a:normAutofit/>
          </a:bodyPr>
          <a:lstStyle/>
          <a:p>
            <a:pPr marL="0" indent="0" algn="ctr">
              <a:buNone/>
            </a:pPr>
            <a:r>
              <a:rPr lang="en-US" sz="950" b="1" dirty="0">
                <a:solidFill>
                  <a:srgbClr val="1B2520"/>
                </a:solidFill>
              </a:rPr>
              <a:t>Jute Red Mite</a:t>
            </a:r>
            <a:endParaRPr lang="en-US" sz="950" dirty="0"/>
          </a:p>
        </p:txBody>
      </p:sp>
      <p:sp>
        <p:nvSpPr>
          <p:cNvPr id="21" name="Shape 16"/>
          <p:cNvSpPr/>
          <p:nvPr/>
        </p:nvSpPr>
        <p:spPr>
          <a:xfrm>
            <a:off x="9079992" y="2624328"/>
            <a:ext cx="2304288" cy="1874520"/>
          </a:xfrm>
          <a:prstGeom prst="roundRect">
            <a:avLst>
              <a:gd name="adj" fmla="val 4878"/>
            </a:avLst>
          </a:prstGeom>
          <a:solidFill>
            <a:srgbClr val="FFFFFF"/>
          </a:solidFill>
          <a:ln w="10160">
            <a:solidFill>
              <a:srgbClr val="D8D5CA"/>
            </a:solidFill>
            <a:prstDash val="solid"/>
          </a:ln>
        </p:spPr>
        <p:txBody>
          <a:bodyPr/>
          <a:lstStyle/>
          <a:p>
            <a:endParaRPr lang="en-US"/>
          </a:p>
        </p:txBody>
      </p:sp>
      <p:pic>
        <p:nvPicPr>
          <p:cNvPr id="22" name="Image 3" descr="/mnt/data/jute_samples/Jute_Stem_Weevil.jpg"/>
          <p:cNvPicPr>
            <a:picLocks noChangeAspect="1"/>
          </p:cNvPicPr>
          <p:nvPr/>
        </p:nvPicPr>
        <p:blipFill>
          <a:blip r:embed="rId6"/>
          <a:srcRect t="16322" b="16322"/>
          <a:stretch/>
        </p:blipFill>
        <p:spPr>
          <a:xfrm>
            <a:off x="9125712" y="2670048"/>
            <a:ext cx="2212848" cy="1490472"/>
          </a:xfrm>
          <a:prstGeom prst="rect">
            <a:avLst/>
          </a:prstGeom>
        </p:spPr>
      </p:pic>
      <p:sp>
        <p:nvSpPr>
          <p:cNvPr id="23" name="Text 17"/>
          <p:cNvSpPr/>
          <p:nvPr/>
        </p:nvSpPr>
        <p:spPr>
          <a:xfrm>
            <a:off x="9153144" y="4224528"/>
            <a:ext cx="2157984" cy="164592"/>
          </a:xfrm>
          <a:prstGeom prst="rect">
            <a:avLst/>
          </a:prstGeom>
          <a:noFill/>
          <a:ln/>
        </p:spPr>
        <p:txBody>
          <a:bodyPr wrap="square" lIns="0" tIns="0" rIns="0" bIns="0" rtlCol="0" anchor="ctr">
            <a:normAutofit/>
          </a:bodyPr>
          <a:lstStyle/>
          <a:p>
            <a:pPr marL="0" indent="0" algn="ctr">
              <a:buNone/>
            </a:pPr>
            <a:r>
              <a:rPr lang="en-US" sz="950" b="1" dirty="0">
                <a:solidFill>
                  <a:srgbClr val="1B2520"/>
                </a:solidFill>
              </a:rPr>
              <a:t>Jute Stem Weevil</a:t>
            </a:r>
            <a:endParaRPr lang="en-US" sz="950" dirty="0"/>
          </a:p>
        </p:txBody>
      </p:sp>
      <p:sp>
        <p:nvSpPr>
          <p:cNvPr id="24" name="Text 18"/>
          <p:cNvSpPr/>
          <p:nvPr/>
        </p:nvSpPr>
        <p:spPr>
          <a:xfrm>
            <a:off x="6675120" y="4892040"/>
            <a:ext cx="4663440" cy="320040"/>
          </a:xfrm>
          <a:prstGeom prst="rect">
            <a:avLst/>
          </a:prstGeom>
          <a:noFill/>
          <a:ln/>
        </p:spPr>
        <p:txBody>
          <a:bodyPr wrap="square" lIns="0" tIns="0" rIns="0" bIns="0" rtlCol="0" anchor="ctr"/>
          <a:lstStyle/>
          <a:p>
            <a:pPr marL="0" indent="0" algn="ctr">
              <a:buNone/>
            </a:pPr>
            <a:r>
              <a:rPr lang="en-US" sz="1300" b="1" dirty="0">
                <a:solidFill>
                  <a:srgbClr val="E7EFE8"/>
                </a:solidFill>
              </a:rPr>
              <a:t>17 pest classes • image classification</a:t>
            </a:r>
            <a:endParaRPr lang="en-US" sz="1300" dirty="0"/>
          </a:p>
        </p:txBody>
      </p:sp>
      <p:sp>
        <p:nvSpPr>
          <p:cNvPr id="25" name="Text 19"/>
          <p:cNvSpPr/>
          <p:nvPr/>
        </p:nvSpPr>
        <p:spPr>
          <a:xfrm>
            <a:off x="6675120" y="5257800"/>
            <a:ext cx="4663440" cy="256032"/>
          </a:xfrm>
          <a:prstGeom prst="rect">
            <a:avLst/>
          </a:prstGeom>
          <a:noFill/>
          <a:ln/>
        </p:spPr>
        <p:txBody>
          <a:bodyPr wrap="square" lIns="0" tIns="0" rIns="0" bIns="0" rtlCol="0" anchor="ctr"/>
          <a:lstStyle/>
          <a:p>
            <a:pPr marL="0" indent="0" algn="ctr">
              <a:buNone/>
            </a:pPr>
            <a:r>
              <a:rPr lang="en-US" sz="1000" dirty="0">
                <a:solidFill>
                  <a:srgbClr val="BFD1C6"/>
                </a:solidFill>
              </a:rPr>
              <a:t>Dataset: UCI Machine Learning Repository</a:t>
            </a:r>
            <a:endParaRPr lang="en-US" sz="1000" dirty="0"/>
          </a:p>
        </p:txBody>
      </p:sp>
      <p:sp>
        <p:nvSpPr>
          <p:cNvPr id="26" name="Text 20"/>
          <p:cNvSpPr/>
          <p:nvPr/>
        </p:nvSpPr>
        <p:spPr>
          <a:xfrm>
            <a:off x="6675120" y="5687568"/>
            <a:ext cx="4663440" cy="219456"/>
          </a:xfrm>
          <a:prstGeom prst="rect">
            <a:avLst/>
          </a:prstGeom>
          <a:noFill/>
          <a:ln/>
        </p:spPr>
        <p:txBody>
          <a:bodyPr wrap="square" lIns="0" tIns="0" rIns="0" bIns="0" rtlCol="0" anchor="ctr"/>
          <a:lstStyle/>
          <a:p>
            <a:pPr marL="0" indent="0" algn="ctr">
              <a:buNone/>
            </a:pPr>
            <a:r>
              <a:rPr lang="en-US" sz="900" dirty="0">
                <a:solidFill>
                  <a:srgbClr val="9FB9AA"/>
                </a:solidFill>
              </a:rPr>
              <a:t>Proposal due Sept. 30, 2026</a:t>
            </a:r>
            <a:endParaRPr lang="en-US" sz="900" dirty="0"/>
          </a:p>
        </p:txBody>
      </p:sp>
      <p:sp>
        <p:nvSpPr>
          <p:cNvPr id="27" name="Text 21"/>
          <p:cNvSpPr/>
          <p:nvPr/>
        </p:nvSpPr>
        <p:spPr>
          <a:xfrm>
            <a:off x="6629400" y="6236208"/>
            <a:ext cx="4754880" cy="182880"/>
          </a:xfrm>
          <a:prstGeom prst="rect">
            <a:avLst/>
          </a:prstGeom>
          <a:noFill/>
          <a:ln/>
        </p:spPr>
        <p:txBody>
          <a:bodyPr wrap="square" lIns="0" tIns="0" rIns="0" bIns="0" rtlCol="0" anchor="ctr"/>
          <a:lstStyle/>
          <a:p>
            <a:pPr marL="0" indent="0" algn="ctr">
              <a:buNone/>
            </a:pPr>
            <a:r>
              <a:rPr lang="en-US" sz="750" i="1" dirty="0">
                <a:solidFill>
                  <a:srgbClr val="8FB0A0"/>
                </a:solidFill>
              </a:rPr>
              <a:t>Sample images © dataset authors, CC BY 4.0</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4114800" cy="228600"/>
          </a:xfrm>
          <a:prstGeom prst="rect">
            <a:avLst/>
          </a:prstGeom>
          <a:noFill/>
          <a:ln/>
        </p:spPr>
        <p:txBody>
          <a:bodyPr wrap="square" lIns="0" tIns="0" rIns="0" bIns="0" rtlCol="0" anchor="ctr"/>
          <a:lstStyle/>
          <a:p>
            <a:pPr marL="0" indent="0">
              <a:buNone/>
            </a:pPr>
            <a:r>
              <a:rPr lang="en-US" sz="1000" b="1" dirty="0">
                <a:solidFill>
                  <a:srgbClr val="D9A441"/>
                </a:solidFill>
              </a:rPr>
              <a:t>MOTIVATION &amp; RELATED WORK</a:t>
            </a:r>
            <a:endParaRPr lang="en-US" sz="1000" dirty="0"/>
          </a:p>
        </p:txBody>
      </p:sp>
      <p:sp>
        <p:nvSpPr>
          <p:cNvPr id="3" name="Text 1"/>
          <p:cNvSpPr/>
          <p:nvPr/>
        </p:nvSpPr>
        <p:spPr>
          <a:xfrm>
            <a:off x="502920" y="566928"/>
            <a:ext cx="11064240" cy="566928"/>
          </a:xfrm>
          <a:prstGeom prst="rect">
            <a:avLst/>
          </a:prstGeom>
          <a:noFill/>
          <a:ln/>
        </p:spPr>
        <p:txBody>
          <a:bodyPr wrap="square" lIns="0" tIns="0" rIns="0" bIns="0" rtlCol="0" anchor="ctr">
            <a:normAutofit/>
          </a:bodyPr>
          <a:lstStyle/>
          <a:p>
            <a:pPr marL="0" indent="0">
              <a:buNone/>
            </a:pPr>
            <a:r>
              <a:rPr lang="en-US" sz="2700" b="1" dirty="0">
                <a:solidFill>
                  <a:srgbClr val="163B2E"/>
                </a:solidFill>
              </a:rPr>
              <a:t>Why this problem and what is different about our project</a:t>
            </a:r>
            <a:endParaRPr lang="en-US" sz="2700" dirty="0"/>
          </a:p>
        </p:txBody>
      </p:sp>
      <p:sp>
        <p:nvSpPr>
          <p:cNvPr id="4" name="Shape 2"/>
          <p:cNvSpPr/>
          <p:nvPr/>
        </p:nvSpPr>
        <p:spPr>
          <a:xfrm>
            <a:off x="548640" y="1371600"/>
            <a:ext cx="3657600" cy="4498848"/>
          </a:xfrm>
          <a:prstGeom prst="roundRect">
            <a:avLst>
              <a:gd name="adj" fmla="val 2500"/>
            </a:avLst>
          </a:prstGeom>
          <a:solidFill>
            <a:srgbClr val="FFFFFF"/>
          </a:solidFill>
          <a:ln w="10160">
            <a:solidFill>
              <a:srgbClr val="D8D5CA"/>
            </a:solidFill>
            <a:prstDash val="solid"/>
          </a:ln>
        </p:spPr>
        <p:txBody>
          <a:bodyPr/>
          <a:lstStyle/>
          <a:p>
            <a:endParaRPr lang="en-US"/>
          </a:p>
        </p:txBody>
      </p:sp>
      <p:sp>
        <p:nvSpPr>
          <p:cNvPr id="5" name="Text 3"/>
          <p:cNvSpPr/>
          <p:nvPr/>
        </p:nvSpPr>
        <p:spPr>
          <a:xfrm>
            <a:off x="822960" y="1664208"/>
            <a:ext cx="1554480" cy="201168"/>
          </a:xfrm>
          <a:prstGeom prst="rect">
            <a:avLst/>
          </a:prstGeom>
          <a:noFill/>
          <a:ln/>
        </p:spPr>
        <p:txBody>
          <a:bodyPr wrap="square" lIns="0" tIns="0" rIns="0" bIns="0" rtlCol="0" anchor="ctr"/>
          <a:lstStyle/>
          <a:p>
            <a:pPr marL="0" indent="0">
              <a:buNone/>
            </a:pPr>
            <a:r>
              <a:rPr lang="en-US" sz="1000" b="1" dirty="0">
                <a:solidFill>
                  <a:srgbClr val="D9A441"/>
                </a:solidFill>
              </a:rPr>
              <a:t>WHY IT MATTERS</a:t>
            </a:r>
            <a:endParaRPr lang="en-US" sz="1000" dirty="0"/>
          </a:p>
        </p:txBody>
      </p:sp>
      <p:sp>
        <p:nvSpPr>
          <p:cNvPr id="6" name="Text 4"/>
          <p:cNvSpPr/>
          <p:nvPr/>
        </p:nvSpPr>
        <p:spPr>
          <a:xfrm>
            <a:off x="822960" y="1965960"/>
            <a:ext cx="3063240" cy="713232"/>
          </a:xfrm>
          <a:prstGeom prst="rect">
            <a:avLst/>
          </a:prstGeom>
          <a:noFill/>
          <a:ln/>
        </p:spPr>
        <p:txBody>
          <a:bodyPr wrap="square" lIns="0" tIns="0" rIns="0" bIns="0" rtlCol="0" anchor="ctr">
            <a:normAutofit fontScale="92500" lnSpcReduction="20000"/>
          </a:bodyPr>
          <a:lstStyle/>
          <a:p>
            <a:pPr marL="0" indent="0">
              <a:buNone/>
            </a:pPr>
            <a:r>
              <a:rPr lang="en-US" sz="2000" b="1" dirty="0">
                <a:solidFill>
                  <a:srgbClr val="163B2E"/>
                </a:solidFill>
              </a:rPr>
              <a:t>Early pest identification supports faster crop protection decisions.</a:t>
            </a:r>
            <a:endParaRPr lang="en-US" sz="2000" dirty="0"/>
          </a:p>
        </p:txBody>
      </p:sp>
      <p:sp>
        <p:nvSpPr>
          <p:cNvPr id="7" name="Text 5"/>
          <p:cNvSpPr/>
          <p:nvPr/>
        </p:nvSpPr>
        <p:spPr>
          <a:xfrm>
            <a:off x="822960" y="2871216"/>
            <a:ext cx="3063240" cy="2240280"/>
          </a:xfrm>
          <a:prstGeom prst="rect">
            <a:avLst/>
          </a:prstGeom>
          <a:noFill/>
          <a:ln/>
        </p:spPr>
        <p:txBody>
          <a:bodyPr wrap="square" lIns="0" tIns="0" rIns="0" bIns="0" rtlCol="0" anchor="ctr">
            <a:normAutofit/>
          </a:bodyPr>
          <a:lstStyle/>
          <a:p>
            <a:r>
              <a:rPr lang="en-US" sz="1350" dirty="0">
                <a:solidFill>
                  <a:srgbClr val="1B2520"/>
                </a:solidFill>
              </a:rPr>
              <a:t>The dataset contains 17 visually different pest classes.</a:t>
            </a:r>
            <a:endParaRPr lang="en-US" sz="1350" dirty="0"/>
          </a:p>
          <a:p>
            <a:r>
              <a:rPr lang="en-US" sz="1350" dirty="0">
                <a:solidFill>
                  <a:srgbClr val="1B2520"/>
                </a:solidFill>
              </a:rPr>
              <a:t>The task is naturally a multiclass classification problem.</a:t>
            </a:r>
            <a:endParaRPr lang="en-US" sz="1350" dirty="0"/>
          </a:p>
          <a:p>
            <a:r>
              <a:rPr lang="en-US" sz="1350" dirty="0">
                <a:solidFill>
                  <a:srgbClr val="1B2520"/>
                </a:solidFill>
              </a:rPr>
              <a:t>A smaller, interpretable classical pipeline may be useful when deep models are not available or allowed.</a:t>
            </a:r>
            <a:endParaRPr lang="en-US" sz="1350" dirty="0"/>
          </a:p>
        </p:txBody>
      </p:sp>
      <p:sp>
        <p:nvSpPr>
          <p:cNvPr id="8" name="Shape 6"/>
          <p:cNvSpPr/>
          <p:nvPr/>
        </p:nvSpPr>
        <p:spPr>
          <a:xfrm>
            <a:off x="822960" y="5239512"/>
            <a:ext cx="3054096" cy="402336"/>
          </a:xfrm>
          <a:prstGeom prst="roundRect">
            <a:avLst>
              <a:gd name="adj" fmla="val 18182"/>
            </a:avLst>
          </a:prstGeom>
          <a:solidFill>
            <a:srgbClr val="E7EFE8"/>
          </a:solidFill>
          <a:ln w="12700">
            <a:solidFill>
              <a:srgbClr val="E7EFE8"/>
            </a:solidFill>
            <a:prstDash val="solid"/>
          </a:ln>
        </p:spPr>
        <p:txBody>
          <a:bodyPr/>
          <a:lstStyle/>
          <a:p>
            <a:endParaRPr lang="en-US"/>
          </a:p>
        </p:txBody>
      </p:sp>
      <p:sp>
        <p:nvSpPr>
          <p:cNvPr id="9" name="Text 7"/>
          <p:cNvSpPr/>
          <p:nvPr/>
        </p:nvSpPr>
        <p:spPr>
          <a:xfrm>
            <a:off x="941832" y="5340096"/>
            <a:ext cx="2816352" cy="164592"/>
          </a:xfrm>
          <a:prstGeom prst="rect">
            <a:avLst/>
          </a:prstGeom>
          <a:noFill/>
          <a:ln/>
        </p:spPr>
        <p:txBody>
          <a:bodyPr wrap="square" lIns="0" tIns="0" rIns="0" bIns="0" rtlCol="0" anchor="ctr"/>
          <a:lstStyle/>
          <a:p>
            <a:pPr marL="0" indent="0" algn="ctr">
              <a:buNone/>
            </a:pPr>
            <a:r>
              <a:rPr lang="en-US" sz="1050" b="1" dirty="0">
                <a:solidFill>
                  <a:srgbClr val="2E6A4D"/>
                </a:solidFill>
              </a:rPr>
              <a:t>Application project: real biological image data</a:t>
            </a:r>
            <a:endParaRPr lang="en-US" sz="1050" dirty="0"/>
          </a:p>
        </p:txBody>
      </p:sp>
      <p:sp>
        <p:nvSpPr>
          <p:cNvPr id="10" name="Shape 8"/>
          <p:cNvSpPr/>
          <p:nvPr/>
        </p:nvSpPr>
        <p:spPr>
          <a:xfrm>
            <a:off x="4462272" y="1371600"/>
            <a:ext cx="7178040" cy="4498848"/>
          </a:xfrm>
          <a:prstGeom prst="roundRect">
            <a:avLst>
              <a:gd name="adj" fmla="val 2033"/>
            </a:avLst>
          </a:prstGeom>
          <a:solidFill>
            <a:srgbClr val="F0F2ED"/>
          </a:solidFill>
          <a:ln w="10160">
            <a:solidFill>
              <a:srgbClr val="E0E3DB"/>
            </a:solidFill>
            <a:prstDash val="solid"/>
          </a:ln>
        </p:spPr>
        <p:txBody>
          <a:bodyPr/>
          <a:lstStyle/>
          <a:p>
            <a:endParaRPr lang="en-US"/>
          </a:p>
        </p:txBody>
      </p:sp>
      <p:sp>
        <p:nvSpPr>
          <p:cNvPr id="11" name="Text 9"/>
          <p:cNvSpPr/>
          <p:nvPr/>
        </p:nvSpPr>
        <p:spPr>
          <a:xfrm>
            <a:off x="4736592" y="1664208"/>
            <a:ext cx="3840480" cy="201168"/>
          </a:xfrm>
          <a:prstGeom prst="rect">
            <a:avLst/>
          </a:prstGeom>
          <a:noFill/>
          <a:ln/>
        </p:spPr>
        <p:txBody>
          <a:bodyPr wrap="square" lIns="0" tIns="0" rIns="0" bIns="0" rtlCol="0" anchor="ctr"/>
          <a:lstStyle/>
          <a:p>
            <a:pPr marL="0" indent="0">
              <a:buNone/>
            </a:pPr>
            <a:r>
              <a:rPr lang="en-US" sz="1000" b="1" dirty="0">
                <a:solidFill>
                  <a:srgbClr val="D9A441"/>
                </a:solidFill>
              </a:rPr>
              <a:t>RELATED WORK ON THIS DATASET / PROBLEM</a:t>
            </a:r>
            <a:endParaRPr lang="en-US" sz="1000" dirty="0"/>
          </a:p>
        </p:txBody>
      </p:sp>
      <p:sp>
        <p:nvSpPr>
          <p:cNvPr id="12" name="Shape 10"/>
          <p:cNvSpPr/>
          <p:nvPr/>
        </p:nvSpPr>
        <p:spPr>
          <a:xfrm>
            <a:off x="4736592" y="2084832"/>
            <a:ext cx="384048" cy="384048"/>
          </a:xfrm>
          <a:prstGeom prst="ellipse">
            <a:avLst/>
          </a:prstGeom>
          <a:solidFill>
            <a:srgbClr val="D9A441"/>
          </a:solidFill>
          <a:ln w="12700">
            <a:solidFill>
              <a:srgbClr val="D9A441"/>
            </a:solidFill>
            <a:prstDash val="solid"/>
          </a:ln>
        </p:spPr>
        <p:txBody>
          <a:bodyPr/>
          <a:lstStyle/>
          <a:p>
            <a:endParaRPr lang="en-US"/>
          </a:p>
        </p:txBody>
      </p:sp>
      <p:sp>
        <p:nvSpPr>
          <p:cNvPr id="13" name="Text 11"/>
          <p:cNvSpPr/>
          <p:nvPr/>
        </p:nvSpPr>
        <p:spPr>
          <a:xfrm>
            <a:off x="5221224" y="2039112"/>
            <a:ext cx="640080" cy="201168"/>
          </a:xfrm>
          <a:prstGeom prst="rect">
            <a:avLst/>
          </a:prstGeom>
          <a:noFill/>
          <a:ln/>
        </p:spPr>
        <p:txBody>
          <a:bodyPr wrap="square" lIns="0" tIns="0" rIns="0" bIns="0" rtlCol="0" anchor="ctr"/>
          <a:lstStyle/>
          <a:p>
            <a:pPr marL="0" indent="0">
              <a:buNone/>
            </a:pPr>
            <a:r>
              <a:rPr lang="en-US" sz="1100" b="1" dirty="0">
                <a:solidFill>
                  <a:srgbClr val="D9A441"/>
                </a:solidFill>
              </a:rPr>
              <a:t>2023</a:t>
            </a:r>
            <a:endParaRPr lang="en-US" sz="1100" dirty="0"/>
          </a:p>
        </p:txBody>
      </p:sp>
      <p:sp>
        <p:nvSpPr>
          <p:cNvPr id="14" name="Text 12"/>
          <p:cNvSpPr/>
          <p:nvPr/>
        </p:nvSpPr>
        <p:spPr>
          <a:xfrm>
            <a:off x="5897880" y="2029968"/>
            <a:ext cx="2331720" cy="228600"/>
          </a:xfrm>
          <a:prstGeom prst="rect">
            <a:avLst/>
          </a:prstGeom>
          <a:noFill/>
          <a:ln/>
        </p:spPr>
        <p:txBody>
          <a:bodyPr wrap="square" lIns="0" tIns="0" rIns="0" bIns="0" rtlCol="0" anchor="ctr"/>
          <a:lstStyle/>
          <a:p>
            <a:pPr marL="0" indent="0">
              <a:buNone/>
            </a:pPr>
            <a:r>
              <a:rPr lang="en-US" sz="1400" b="1" dirty="0">
                <a:solidFill>
                  <a:srgbClr val="1B2520"/>
                </a:solidFill>
              </a:rPr>
              <a:t>JutePestDetect</a:t>
            </a:r>
            <a:endParaRPr lang="en-US" sz="1400" dirty="0"/>
          </a:p>
        </p:txBody>
      </p:sp>
      <p:sp>
        <p:nvSpPr>
          <p:cNvPr id="15" name="Text 13"/>
          <p:cNvSpPr/>
          <p:nvPr/>
        </p:nvSpPr>
        <p:spPr>
          <a:xfrm>
            <a:off x="5897880" y="2313432"/>
            <a:ext cx="5074920" cy="329184"/>
          </a:xfrm>
          <a:prstGeom prst="rect">
            <a:avLst/>
          </a:prstGeom>
          <a:noFill/>
          <a:ln/>
        </p:spPr>
        <p:txBody>
          <a:bodyPr wrap="square" lIns="0" tIns="0" rIns="0" bIns="0" rtlCol="0" anchor="ctr">
            <a:normAutofit/>
          </a:bodyPr>
          <a:lstStyle/>
          <a:p>
            <a:pPr marL="0" indent="0">
              <a:buNone/>
            </a:pPr>
            <a:r>
              <a:rPr lang="en-US" sz="1150" dirty="0">
                <a:solidFill>
                  <a:srgbClr val="69756E"/>
                </a:solidFill>
              </a:rPr>
              <a:t>Transfer learning; DenseNet201 reported 99% accuracy.</a:t>
            </a:r>
            <a:endParaRPr lang="en-US" sz="1150" dirty="0"/>
          </a:p>
        </p:txBody>
      </p:sp>
      <p:sp>
        <p:nvSpPr>
          <p:cNvPr id="16" name="Shape 14"/>
          <p:cNvSpPr/>
          <p:nvPr/>
        </p:nvSpPr>
        <p:spPr>
          <a:xfrm>
            <a:off x="4736592" y="2971800"/>
            <a:ext cx="384048" cy="384048"/>
          </a:xfrm>
          <a:prstGeom prst="ellipse">
            <a:avLst/>
          </a:prstGeom>
          <a:solidFill>
            <a:srgbClr val="2E6A4D"/>
          </a:solidFill>
          <a:ln w="12700">
            <a:solidFill>
              <a:srgbClr val="2E6A4D"/>
            </a:solidFill>
            <a:prstDash val="solid"/>
          </a:ln>
        </p:spPr>
        <p:txBody>
          <a:bodyPr/>
          <a:lstStyle/>
          <a:p>
            <a:endParaRPr lang="en-US"/>
          </a:p>
        </p:txBody>
      </p:sp>
      <p:sp>
        <p:nvSpPr>
          <p:cNvPr id="17" name="Text 15"/>
          <p:cNvSpPr/>
          <p:nvPr/>
        </p:nvSpPr>
        <p:spPr>
          <a:xfrm>
            <a:off x="5221224" y="2926080"/>
            <a:ext cx="640080" cy="201168"/>
          </a:xfrm>
          <a:prstGeom prst="rect">
            <a:avLst/>
          </a:prstGeom>
          <a:noFill/>
          <a:ln/>
        </p:spPr>
        <p:txBody>
          <a:bodyPr wrap="square" lIns="0" tIns="0" rIns="0" bIns="0" rtlCol="0" anchor="ctr"/>
          <a:lstStyle/>
          <a:p>
            <a:pPr marL="0" indent="0">
              <a:buNone/>
            </a:pPr>
            <a:r>
              <a:rPr lang="en-US" sz="1100" b="1" dirty="0">
                <a:solidFill>
                  <a:srgbClr val="2E6A4D"/>
                </a:solidFill>
              </a:rPr>
              <a:t>2024</a:t>
            </a:r>
            <a:endParaRPr lang="en-US" sz="1100" dirty="0"/>
          </a:p>
        </p:txBody>
      </p:sp>
      <p:sp>
        <p:nvSpPr>
          <p:cNvPr id="18" name="Text 16"/>
          <p:cNvSpPr/>
          <p:nvPr/>
        </p:nvSpPr>
        <p:spPr>
          <a:xfrm>
            <a:off x="5897880" y="2916936"/>
            <a:ext cx="2331720" cy="228600"/>
          </a:xfrm>
          <a:prstGeom prst="rect">
            <a:avLst/>
          </a:prstGeom>
          <a:noFill/>
          <a:ln/>
        </p:spPr>
        <p:txBody>
          <a:bodyPr wrap="square" lIns="0" tIns="0" rIns="0" bIns="0" rtlCol="0" anchor="ctr"/>
          <a:lstStyle/>
          <a:p>
            <a:pPr marL="0" indent="0">
              <a:buNone/>
            </a:pPr>
            <a:r>
              <a:rPr lang="en-US" sz="1400" b="1" dirty="0">
                <a:solidFill>
                  <a:srgbClr val="1B2520"/>
                </a:solidFill>
              </a:rPr>
              <a:t>UCI introductory paper</a:t>
            </a:r>
            <a:endParaRPr lang="en-US" sz="1400" dirty="0"/>
          </a:p>
        </p:txBody>
      </p:sp>
      <p:sp>
        <p:nvSpPr>
          <p:cNvPr id="19" name="Text 17"/>
          <p:cNvSpPr/>
          <p:nvPr/>
        </p:nvSpPr>
        <p:spPr>
          <a:xfrm>
            <a:off x="5897880" y="3200400"/>
            <a:ext cx="5074920" cy="329184"/>
          </a:xfrm>
          <a:prstGeom prst="rect">
            <a:avLst/>
          </a:prstGeom>
          <a:noFill/>
          <a:ln/>
        </p:spPr>
        <p:txBody>
          <a:bodyPr wrap="square" lIns="0" tIns="0" rIns="0" bIns="0" rtlCol="0" anchor="ctr">
            <a:normAutofit/>
          </a:bodyPr>
          <a:lstStyle/>
          <a:p>
            <a:pPr marL="0" indent="0">
              <a:buNone/>
            </a:pPr>
            <a:r>
              <a:rPr lang="en-US" sz="1150" dirty="0">
                <a:solidFill>
                  <a:srgbClr val="69756E"/>
                </a:solidFill>
              </a:rPr>
              <a:t>Transfer-learning models for the same 17-class task.</a:t>
            </a:r>
            <a:endParaRPr lang="en-US" sz="1150" dirty="0"/>
          </a:p>
        </p:txBody>
      </p:sp>
      <p:sp>
        <p:nvSpPr>
          <p:cNvPr id="20" name="Shape 18"/>
          <p:cNvSpPr/>
          <p:nvPr/>
        </p:nvSpPr>
        <p:spPr>
          <a:xfrm>
            <a:off x="4736592" y="3858768"/>
            <a:ext cx="384048" cy="384048"/>
          </a:xfrm>
          <a:prstGeom prst="ellipse">
            <a:avLst/>
          </a:prstGeom>
          <a:solidFill>
            <a:srgbClr val="B96545"/>
          </a:solidFill>
          <a:ln w="12700">
            <a:solidFill>
              <a:srgbClr val="B96545"/>
            </a:solidFill>
            <a:prstDash val="solid"/>
          </a:ln>
        </p:spPr>
        <p:txBody>
          <a:bodyPr/>
          <a:lstStyle/>
          <a:p>
            <a:endParaRPr lang="en-US"/>
          </a:p>
        </p:txBody>
      </p:sp>
      <p:sp>
        <p:nvSpPr>
          <p:cNvPr id="21" name="Text 19"/>
          <p:cNvSpPr/>
          <p:nvPr/>
        </p:nvSpPr>
        <p:spPr>
          <a:xfrm>
            <a:off x="5221224" y="3813048"/>
            <a:ext cx="640080" cy="201168"/>
          </a:xfrm>
          <a:prstGeom prst="rect">
            <a:avLst/>
          </a:prstGeom>
          <a:noFill/>
          <a:ln/>
        </p:spPr>
        <p:txBody>
          <a:bodyPr wrap="square" lIns="0" tIns="0" rIns="0" bIns="0" rtlCol="0" anchor="ctr"/>
          <a:lstStyle/>
          <a:p>
            <a:pPr marL="0" indent="0">
              <a:buNone/>
            </a:pPr>
            <a:r>
              <a:rPr lang="en-US" sz="1100" b="1" dirty="0">
                <a:solidFill>
                  <a:srgbClr val="B96545"/>
                </a:solidFill>
              </a:rPr>
              <a:t>2025</a:t>
            </a:r>
            <a:endParaRPr lang="en-US" sz="1100" dirty="0"/>
          </a:p>
        </p:txBody>
      </p:sp>
      <p:sp>
        <p:nvSpPr>
          <p:cNvPr id="22" name="Text 20"/>
          <p:cNvSpPr/>
          <p:nvPr/>
        </p:nvSpPr>
        <p:spPr>
          <a:xfrm>
            <a:off x="5897880" y="3803904"/>
            <a:ext cx="2331720" cy="228600"/>
          </a:xfrm>
          <a:prstGeom prst="rect">
            <a:avLst/>
          </a:prstGeom>
          <a:noFill/>
          <a:ln/>
        </p:spPr>
        <p:txBody>
          <a:bodyPr wrap="square" lIns="0" tIns="0" rIns="0" bIns="0" rtlCol="0" anchor="ctr"/>
          <a:lstStyle/>
          <a:p>
            <a:pPr marL="0" indent="0">
              <a:buNone/>
            </a:pPr>
            <a:r>
              <a:rPr lang="en-US" sz="1400" b="1" dirty="0">
                <a:solidFill>
                  <a:srgbClr val="1B2520"/>
                </a:solidFill>
              </a:rPr>
              <a:t>Deep features + SVM</a:t>
            </a:r>
            <a:endParaRPr lang="en-US" sz="1400" dirty="0"/>
          </a:p>
        </p:txBody>
      </p:sp>
      <p:sp>
        <p:nvSpPr>
          <p:cNvPr id="23" name="Text 21"/>
          <p:cNvSpPr/>
          <p:nvPr/>
        </p:nvSpPr>
        <p:spPr>
          <a:xfrm>
            <a:off x="5897880" y="4087368"/>
            <a:ext cx="5074920" cy="329184"/>
          </a:xfrm>
          <a:prstGeom prst="rect">
            <a:avLst/>
          </a:prstGeom>
          <a:noFill/>
          <a:ln/>
        </p:spPr>
        <p:txBody>
          <a:bodyPr wrap="square" lIns="0" tIns="0" rIns="0" bIns="0" rtlCol="0" anchor="ctr">
            <a:normAutofit/>
          </a:bodyPr>
          <a:lstStyle/>
          <a:p>
            <a:pPr marL="0" indent="0">
              <a:buNone/>
            </a:pPr>
            <a:r>
              <a:rPr lang="en-US" sz="1150" dirty="0">
                <a:solidFill>
                  <a:srgbClr val="69756E"/>
                </a:solidFill>
              </a:rPr>
              <a:t>DenseNet201/DarkNet53 feature extraction → SVM; 96.779% reported.</a:t>
            </a:r>
            <a:endParaRPr lang="en-US" sz="1150" dirty="0"/>
          </a:p>
        </p:txBody>
      </p:sp>
      <p:sp>
        <p:nvSpPr>
          <p:cNvPr id="24" name="Shape 22"/>
          <p:cNvSpPr/>
          <p:nvPr/>
        </p:nvSpPr>
        <p:spPr>
          <a:xfrm>
            <a:off x="4928616" y="2514600"/>
            <a:ext cx="0" cy="1572768"/>
          </a:xfrm>
          <a:prstGeom prst="line">
            <a:avLst/>
          </a:prstGeom>
          <a:noFill/>
          <a:ln w="19050">
            <a:solidFill>
              <a:srgbClr val="B8BDB8"/>
            </a:solidFill>
            <a:prstDash val="solid"/>
          </a:ln>
        </p:spPr>
        <p:txBody>
          <a:bodyPr/>
          <a:lstStyle/>
          <a:p>
            <a:endParaRPr lang="en-US"/>
          </a:p>
        </p:txBody>
      </p:sp>
      <p:sp>
        <p:nvSpPr>
          <p:cNvPr id="25" name="Shape 23"/>
          <p:cNvSpPr/>
          <p:nvPr/>
        </p:nvSpPr>
        <p:spPr>
          <a:xfrm>
            <a:off x="4718304" y="4791456"/>
            <a:ext cx="6382512" cy="786384"/>
          </a:xfrm>
          <a:prstGeom prst="roundRect">
            <a:avLst>
              <a:gd name="adj" fmla="val 11628"/>
            </a:avLst>
          </a:prstGeom>
          <a:solidFill>
            <a:srgbClr val="FFF7E6"/>
          </a:solidFill>
          <a:ln w="13970">
            <a:solidFill>
              <a:srgbClr val="E7C978"/>
            </a:solidFill>
            <a:prstDash val="solid"/>
          </a:ln>
        </p:spPr>
        <p:txBody>
          <a:bodyPr/>
          <a:lstStyle/>
          <a:p>
            <a:endParaRPr lang="en-US"/>
          </a:p>
        </p:txBody>
      </p:sp>
      <p:sp>
        <p:nvSpPr>
          <p:cNvPr id="26" name="Text 24"/>
          <p:cNvSpPr/>
          <p:nvPr/>
        </p:nvSpPr>
        <p:spPr>
          <a:xfrm>
            <a:off x="4956048" y="4992624"/>
            <a:ext cx="804672" cy="164592"/>
          </a:xfrm>
          <a:prstGeom prst="rect">
            <a:avLst/>
          </a:prstGeom>
          <a:noFill/>
          <a:ln/>
        </p:spPr>
        <p:txBody>
          <a:bodyPr wrap="square" lIns="0" tIns="0" rIns="0" bIns="0" rtlCol="0" anchor="ctr"/>
          <a:lstStyle/>
          <a:p>
            <a:pPr marL="0" indent="0">
              <a:buNone/>
            </a:pPr>
            <a:r>
              <a:rPr lang="en-US" sz="1000" b="1" dirty="0">
                <a:solidFill>
                  <a:srgbClr val="B96545"/>
                </a:solidFill>
              </a:rPr>
              <a:t>OUR GAP</a:t>
            </a:r>
            <a:endParaRPr lang="en-US" sz="1000" dirty="0"/>
          </a:p>
        </p:txBody>
      </p:sp>
      <p:sp>
        <p:nvSpPr>
          <p:cNvPr id="27" name="Text 25"/>
          <p:cNvSpPr/>
          <p:nvPr/>
        </p:nvSpPr>
        <p:spPr>
          <a:xfrm>
            <a:off x="5669280" y="4901184"/>
            <a:ext cx="5074920" cy="384048"/>
          </a:xfrm>
          <a:prstGeom prst="rect">
            <a:avLst/>
          </a:prstGeom>
          <a:noFill/>
          <a:ln/>
        </p:spPr>
        <p:txBody>
          <a:bodyPr wrap="square" lIns="0" tIns="0" rIns="0" bIns="0" rtlCol="0" anchor="ctr">
            <a:normAutofit fontScale="92500" lnSpcReduction="10000"/>
          </a:bodyPr>
          <a:lstStyle/>
          <a:p>
            <a:pPr marL="0" indent="0">
              <a:buNone/>
            </a:pPr>
            <a:r>
              <a:rPr lang="en-US" sz="1450" b="1" dirty="0">
                <a:solidFill>
                  <a:srgbClr val="163B2E"/>
                </a:solidFill>
              </a:rPr>
              <a:t>A fully non-neural pipeline: handcrafted visual features + classical ML methods from CS 590.</a:t>
            </a:r>
            <a:endParaRPr lang="en-US" sz="1450" dirty="0"/>
          </a:p>
        </p:txBody>
      </p:sp>
      <p:sp>
        <p:nvSpPr>
          <p:cNvPr id="28" name="Text 26"/>
          <p:cNvSpPr/>
          <p:nvPr/>
        </p:nvSpPr>
        <p:spPr>
          <a:xfrm>
            <a:off x="5943600" y="6583680"/>
            <a:ext cx="5212080" cy="164592"/>
          </a:xfrm>
          <a:prstGeom prst="rect">
            <a:avLst/>
          </a:prstGeom>
          <a:noFill/>
          <a:ln/>
        </p:spPr>
        <p:txBody>
          <a:bodyPr wrap="square" lIns="0" tIns="0" rIns="0" bIns="0" rtlCol="0" anchor="ctr">
            <a:normAutofit/>
          </a:bodyPr>
          <a:lstStyle/>
          <a:p>
            <a:pPr marL="0" indent="0" algn="r">
              <a:buNone/>
            </a:pPr>
            <a:r>
              <a:rPr lang="en-US" sz="740" i="1" dirty="0">
                <a:solidFill>
                  <a:srgbClr val="8A918C"/>
                </a:solidFill>
              </a:rPr>
              <a:t>Sources: UCI (2024); Talukder et al. (2023); </a:t>
            </a:r>
            <a:r>
              <a:rPr lang="en-US" sz="740" i="1" dirty="0" err="1">
                <a:solidFill>
                  <a:srgbClr val="8A918C"/>
                </a:solidFill>
              </a:rPr>
              <a:t>Kiziloluk</a:t>
            </a:r>
            <a:r>
              <a:rPr lang="en-US" sz="740" i="1" dirty="0">
                <a:solidFill>
                  <a:srgbClr val="8A918C"/>
                </a:solidFill>
              </a:rPr>
              <a:t> et al. (2025)</a:t>
            </a:r>
            <a:endParaRPr lang="en-US" sz="740" dirty="0"/>
          </a:p>
        </p:txBody>
      </p:sp>
      <p:sp>
        <p:nvSpPr>
          <p:cNvPr id="29" name="Slide Number Placeholder 0"/>
          <p:cNvSpPr>
            <a:spLocks noGrp="1"/>
          </p:cNvSpPr>
          <p:nvPr>
            <p:ph type="sldNum" sz="quarter" idx="4294967295"/>
          </p:nvPr>
        </p:nvSpPr>
        <p:spPr>
          <a:xfrm>
            <a:off x="11292840" y="6574536"/>
            <a:ext cx="41148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788078"/>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0040"/>
            <a:ext cx="4114800" cy="228600"/>
          </a:xfrm>
          <a:prstGeom prst="rect">
            <a:avLst/>
          </a:prstGeom>
          <a:noFill/>
          <a:ln/>
        </p:spPr>
        <p:txBody>
          <a:bodyPr wrap="square" lIns="0" tIns="0" rIns="0" bIns="0" rtlCol="0" anchor="ctr"/>
          <a:lstStyle/>
          <a:p>
            <a:pPr marL="0" indent="0">
              <a:buNone/>
            </a:pPr>
            <a:r>
              <a:rPr lang="en-US" sz="1000" b="1" dirty="0">
                <a:solidFill>
                  <a:srgbClr val="D9A441"/>
                </a:solidFill>
              </a:rPr>
              <a:t>DATASET &amp; INITIAL AUDIT</a:t>
            </a:r>
            <a:endParaRPr lang="en-US" sz="1000" dirty="0"/>
          </a:p>
        </p:txBody>
      </p:sp>
      <p:sp>
        <p:nvSpPr>
          <p:cNvPr id="3" name="Text 1"/>
          <p:cNvSpPr/>
          <p:nvPr/>
        </p:nvSpPr>
        <p:spPr>
          <a:xfrm>
            <a:off x="502920" y="566928"/>
            <a:ext cx="11064240" cy="566928"/>
          </a:xfrm>
          <a:prstGeom prst="rect">
            <a:avLst/>
          </a:prstGeom>
          <a:noFill/>
          <a:ln/>
        </p:spPr>
        <p:txBody>
          <a:bodyPr wrap="square" lIns="0" tIns="0" rIns="0" bIns="0" rtlCol="0" anchor="ctr">
            <a:normAutofit/>
          </a:bodyPr>
          <a:lstStyle/>
          <a:p>
            <a:pPr marL="0" indent="0">
              <a:buNone/>
            </a:pPr>
            <a:r>
              <a:rPr lang="en-US" sz="2700" b="1" dirty="0">
                <a:solidFill>
                  <a:srgbClr val="163B2E"/>
                </a:solidFill>
              </a:rPr>
              <a:t>The data: 17 pest classes with a ready train / validation / test structure</a:t>
            </a:r>
            <a:endParaRPr lang="en-US" sz="2700" dirty="0"/>
          </a:p>
        </p:txBody>
      </p:sp>
      <p:sp>
        <p:nvSpPr>
          <p:cNvPr id="4" name="Shape 2"/>
          <p:cNvSpPr/>
          <p:nvPr/>
        </p:nvSpPr>
        <p:spPr>
          <a:xfrm>
            <a:off x="566928" y="1417320"/>
            <a:ext cx="1600200" cy="1417320"/>
          </a:xfrm>
          <a:prstGeom prst="roundRect">
            <a:avLst>
              <a:gd name="adj" fmla="val 6452"/>
            </a:avLst>
          </a:prstGeom>
          <a:solidFill>
            <a:srgbClr val="FFFFFF"/>
          </a:solidFill>
          <a:ln w="10160">
            <a:solidFill>
              <a:srgbClr val="D8D5CA"/>
            </a:solidFill>
            <a:prstDash val="solid"/>
          </a:ln>
        </p:spPr>
        <p:txBody>
          <a:bodyPr/>
          <a:lstStyle/>
          <a:p>
            <a:endParaRPr lang="en-US"/>
          </a:p>
        </p:txBody>
      </p:sp>
      <p:pic>
        <p:nvPicPr>
          <p:cNvPr id="5" name="Image 0" descr="/mnt/data/jute_samples/Jute_Red_Mite.jpg"/>
          <p:cNvPicPr>
            <a:picLocks noChangeAspect="1"/>
          </p:cNvPicPr>
          <p:nvPr/>
        </p:nvPicPr>
        <p:blipFill>
          <a:blip r:embed="rId3"/>
          <a:srcRect t="25602" b="25602"/>
          <a:stretch/>
        </p:blipFill>
        <p:spPr>
          <a:xfrm>
            <a:off x="612648" y="1463040"/>
            <a:ext cx="1508760" cy="1033272"/>
          </a:xfrm>
          <a:prstGeom prst="rect">
            <a:avLst/>
          </a:prstGeom>
        </p:spPr>
      </p:pic>
      <p:sp>
        <p:nvSpPr>
          <p:cNvPr id="6" name="Text 3"/>
          <p:cNvSpPr/>
          <p:nvPr/>
        </p:nvSpPr>
        <p:spPr>
          <a:xfrm>
            <a:off x="640080" y="2560320"/>
            <a:ext cx="1453896" cy="164592"/>
          </a:xfrm>
          <a:prstGeom prst="rect">
            <a:avLst/>
          </a:prstGeom>
          <a:noFill/>
          <a:ln/>
        </p:spPr>
        <p:txBody>
          <a:bodyPr wrap="square" lIns="0" tIns="0" rIns="0" bIns="0" rtlCol="0" anchor="ctr">
            <a:normAutofit/>
          </a:bodyPr>
          <a:lstStyle/>
          <a:p>
            <a:pPr marL="0" indent="0" algn="ctr">
              <a:buNone/>
            </a:pPr>
            <a:r>
              <a:rPr lang="en-US" sz="950" b="1" dirty="0">
                <a:solidFill>
                  <a:srgbClr val="1B2520"/>
                </a:solidFill>
              </a:rPr>
              <a:t>Jute Red Mite</a:t>
            </a:r>
            <a:endParaRPr lang="en-US" sz="950" dirty="0"/>
          </a:p>
        </p:txBody>
      </p:sp>
      <p:sp>
        <p:nvSpPr>
          <p:cNvPr id="7" name="Shape 4"/>
          <p:cNvSpPr/>
          <p:nvPr/>
        </p:nvSpPr>
        <p:spPr>
          <a:xfrm>
            <a:off x="2276856" y="1417320"/>
            <a:ext cx="1600200" cy="1417320"/>
          </a:xfrm>
          <a:prstGeom prst="roundRect">
            <a:avLst>
              <a:gd name="adj" fmla="val 6452"/>
            </a:avLst>
          </a:prstGeom>
          <a:solidFill>
            <a:srgbClr val="FFFFFF"/>
          </a:solidFill>
          <a:ln w="10160">
            <a:solidFill>
              <a:srgbClr val="D8D5CA"/>
            </a:solidFill>
            <a:prstDash val="solid"/>
          </a:ln>
        </p:spPr>
        <p:txBody>
          <a:bodyPr/>
          <a:lstStyle/>
          <a:p>
            <a:endParaRPr lang="en-US"/>
          </a:p>
        </p:txBody>
      </p:sp>
      <p:pic>
        <p:nvPicPr>
          <p:cNvPr id="8" name="Image 1" descr="/mnt/data/jute_samples/Beet_Armyworm.jpg"/>
          <p:cNvPicPr>
            <a:picLocks noChangeAspect="1"/>
          </p:cNvPicPr>
          <p:nvPr/>
        </p:nvPicPr>
        <p:blipFill>
          <a:blip r:embed="rId4"/>
          <a:srcRect t="15758" b="15758"/>
          <a:stretch/>
        </p:blipFill>
        <p:spPr>
          <a:xfrm>
            <a:off x="2322576" y="1463040"/>
            <a:ext cx="1508760" cy="1033272"/>
          </a:xfrm>
          <a:prstGeom prst="rect">
            <a:avLst/>
          </a:prstGeom>
        </p:spPr>
      </p:pic>
      <p:sp>
        <p:nvSpPr>
          <p:cNvPr id="9" name="Text 5"/>
          <p:cNvSpPr/>
          <p:nvPr/>
        </p:nvSpPr>
        <p:spPr>
          <a:xfrm>
            <a:off x="2350008" y="2560320"/>
            <a:ext cx="1453896" cy="164592"/>
          </a:xfrm>
          <a:prstGeom prst="rect">
            <a:avLst/>
          </a:prstGeom>
          <a:noFill/>
          <a:ln/>
        </p:spPr>
        <p:txBody>
          <a:bodyPr wrap="square" lIns="0" tIns="0" rIns="0" bIns="0" rtlCol="0" anchor="ctr">
            <a:normAutofit/>
          </a:bodyPr>
          <a:lstStyle/>
          <a:p>
            <a:pPr marL="0" indent="0" algn="ctr">
              <a:buNone/>
            </a:pPr>
            <a:r>
              <a:rPr lang="en-US" sz="950" b="1" dirty="0">
                <a:solidFill>
                  <a:srgbClr val="1B2520"/>
                </a:solidFill>
              </a:rPr>
              <a:t>Beet Armyworm</a:t>
            </a:r>
            <a:endParaRPr lang="en-US" sz="950" dirty="0"/>
          </a:p>
        </p:txBody>
      </p:sp>
      <p:sp>
        <p:nvSpPr>
          <p:cNvPr id="10" name="Shape 6"/>
          <p:cNvSpPr/>
          <p:nvPr/>
        </p:nvSpPr>
        <p:spPr>
          <a:xfrm>
            <a:off x="3986784" y="1417320"/>
            <a:ext cx="1600200" cy="1417320"/>
          </a:xfrm>
          <a:prstGeom prst="roundRect">
            <a:avLst>
              <a:gd name="adj" fmla="val 6452"/>
            </a:avLst>
          </a:prstGeom>
          <a:solidFill>
            <a:srgbClr val="FFFFFF"/>
          </a:solidFill>
          <a:ln w="10160">
            <a:solidFill>
              <a:srgbClr val="D8D5CA"/>
            </a:solidFill>
            <a:prstDash val="solid"/>
          </a:ln>
        </p:spPr>
        <p:txBody>
          <a:bodyPr/>
          <a:lstStyle/>
          <a:p>
            <a:endParaRPr lang="en-US"/>
          </a:p>
        </p:txBody>
      </p:sp>
      <p:pic>
        <p:nvPicPr>
          <p:cNvPr id="11" name="Image 2" descr="/mnt/data/jute_samples/Termite.jpg"/>
          <p:cNvPicPr>
            <a:picLocks noChangeAspect="1"/>
          </p:cNvPicPr>
          <p:nvPr/>
        </p:nvPicPr>
        <p:blipFill>
          <a:blip r:embed="rId5"/>
          <a:srcRect t="15758" b="15758"/>
          <a:stretch/>
        </p:blipFill>
        <p:spPr>
          <a:xfrm>
            <a:off x="4032504" y="1463040"/>
            <a:ext cx="1508760" cy="1033272"/>
          </a:xfrm>
          <a:prstGeom prst="rect">
            <a:avLst/>
          </a:prstGeom>
        </p:spPr>
      </p:pic>
      <p:sp>
        <p:nvSpPr>
          <p:cNvPr id="12" name="Text 7"/>
          <p:cNvSpPr/>
          <p:nvPr/>
        </p:nvSpPr>
        <p:spPr>
          <a:xfrm>
            <a:off x="4059936" y="2560320"/>
            <a:ext cx="1453896" cy="164592"/>
          </a:xfrm>
          <a:prstGeom prst="rect">
            <a:avLst/>
          </a:prstGeom>
          <a:noFill/>
          <a:ln/>
        </p:spPr>
        <p:txBody>
          <a:bodyPr wrap="square" lIns="0" tIns="0" rIns="0" bIns="0" rtlCol="0" anchor="ctr">
            <a:normAutofit/>
          </a:bodyPr>
          <a:lstStyle/>
          <a:p>
            <a:pPr marL="0" indent="0" algn="ctr">
              <a:buNone/>
            </a:pPr>
            <a:r>
              <a:rPr lang="en-US" sz="950" b="1" dirty="0">
                <a:solidFill>
                  <a:srgbClr val="1B2520"/>
                </a:solidFill>
              </a:rPr>
              <a:t>Termite</a:t>
            </a:r>
            <a:endParaRPr lang="en-US" sz="950" dirty="0"/>
          </a:p>
        </p:txBody>
      </p:sp>
      <p:sp>
        <p:nvSpPr>
          <p:cNvPr id="13" name="Shape 8"/>
          <p:cNvSpPr/>
          <p:nvPr/>
        </p:nvSpPr>
        <p:spPr>
          <a:xfrm>
            <a:off x="566928" y="3063240"/>
            <a:ext cx="1600200" cy="1417320"/>
          </a:xfrm>
          <a:prstGeom prst="roundRect">
            <a:avLst>
              <a:gd name="adj" fmla="val 6452"/>
            </a:avLst>
          </a:prstGeom>
          <a:solidFill>
            <a:srgbClr val="FFFFFF"/>
          </a:solidFill>
          <a:ln w="10160">
            <a:solidFill>
              <a:srgbClr val="D8D5CA"/>
            </a:solidFill>
            <a:prstDash val="solid"/>
          </a:ln>
        </p:spPr>
        <p:txBody>
          <a:bodyPr/>
          <a:lstStyle/>
          <a:p>
            <a:endParaRPr lang="en-US"/>
          </a:p>
        </p:txBody>
      </p:sp>
      <p:pic>
        <p:nvPicPr>
          <p:cNvPr id="14" name="Image 3" descr="/mnt/data/jute_samples/Jute_Stem_Weevil.jpg"/>
          <p:cNvPicPr>
            <a:picLocks noChangeAspect="1"/>
          </p:cNvPicPr>
          <p:nvPr/>
        </p:nvPicPr>
        <p:blipFill>
          <a:blip r:embed="rId6"/>
          <a:srcRect t="15758" b="15758"/>
          <a:stretch/>
        </p:blipFill>
        <p:spPr>
          <a:xfrm>
            <a:off x="612648" y="3108960"/>
            <a:ext cx="1508760" cy="1033272"/>
          </a:xfrm>
          <a:prstGeom prst="rect">
            <a:avLst/>
          </a:prstGeom>
        </p:spPr>
      </p:pic>
      <p:sp>
        <p:nvSpPr>
          <p:cNvPr id="15" name="Text 9"/>
          <p:cNvSpPr/>
          <p:nvPr/>
        </p:nvSpPr>
        <p:spPr>
          <a:xfrm>
            <a:off x="640080" y="4206240"/>
            <a:ext cx="1453896" cy="164592"/>
          </a:xfrm>
          <a:prstGeom prst="rect">
            <a:avLst/>
          </a:prstGeom>
          <a:noFill/>
          <a:ln/>
        </p:spPr>
        <p:txBody>
          <a:bodyPr wrap="square" lIns="0" tIns="0" rIns="0" bIns="0" rtlCol="0" anchor="ctr">
            <a:normAutofit/>
          </a:bodyPr>
          <a:lstStyle/>
          <a:p>
            <a:pPr marL="0" indent="0" algn="ctr">
              <a:buNone/>
            </a:pPr>
            <a:r>
              <a:rPr lang="en-US" sz="950" b="1" dirty="0">
                <a:solidFill>
                  <a:srgbClr val="1B2520"/>
                </a:solidFill>
              </a:rPr>
              <a:t>Stem Weevil</a:t>
            </a:r>
            <a:endParaRPr lang="en-US" sz="950" dirty="0"/>
          </a:p>
        </p:txBody>
      </p:sp>
      <p:sp>
        <p:nvSpPr>
          <p:cNvPr id="16" name="Shape 10"/>
          <p:cNvSpPr/>
          <p:nvPr/>
        </p:nvSpPr>
        <p:spPr>
          <a:xfrm>
            <a:off x="2276856" y="3063240"/>
            <a:ext cx="1600200" cy="1417320"/>
          </a:xfrm>
          <a:prstGeom prst="roundRect">
            <a:avLst>
              <a:gd name="adj" fmla="val 6452"/>
            </a:avLst>
          </a:prstGeom>
          <a:solidFill>
            <a:srgbClr val="FFFFFF"/>
          </a:solidFill>
          <a:ln w="10160">
            <a:solidFill>
              <a:srgbClr val="D8D5CA"/>
            </a:solidFill>
            <a:prstDash val="solid"/>
          </a:ln>
        </p:spPr>
        <p:txBody>
          <a:bodyPr/>
          <a:lstStyle/>
          <a:p>
            <a:endParaRPr lang="en-US"/>
          </a:p>
        </p:txBody>
      </p:sp>
      <p:pic>
        <p:nvPicPr>
          <p:cNvPr id="17" name="Image 4" descr="/mnt/data/jute_samples/Mealybug.jpg"/>
          <p:cNvPicPr>
            <a:picLocks noChangeAspect="1"/>
          </p:cNvPicPr>
          <p:nvPr/>
        </p:nvPicPr>
        <p:blipFill>
          <a:blip r:embed="rId7"/>
          <a:srcRect t="15758" b="15758"/>
          <a:stretch/>
        </p:blipFill>
        <p:spPr>
          <a:xfrm>
            <a:off x="2322576" y="3108960"/>
            <a:ext cx="1508760" cy="1033272"/>
          </a:xfrm>
          <a:prstGeom prst="rect">
            <a:avLst/>
          </a:prstGeom>
        </p:spPr>
      </p:pic>
      <p:sp>
        <p:nvSpPr>
          <p:cNvPr id="18" name="Text 11"/>
          <p:cNvSpPr/>
          <p:nvPr/>
        </p:nvSpPr>
        <p:spPr>
          <a:xfrm>
            <a:off x="2350008" y="4206240"/>
            <a:ext cx="1453896" cy="164592"/>
          </a:xfrm>
          <a:prstGeom prst="rect">
            <a:avLst/>
          </a:prstGeom>
          <a:noFill/>
          <a:ln/>
        </p:spPr>
        <p:txBody>
          <a:bodyPr wrap="square" lIns="0" tIns="0" rIns="0" bIns="0" rtlCol="0" anchor="ctr">
            <a:normAutofit/>
          </a:bodyPr>
          <a:lstStyle/>
          <a:p>
            <a:pPr marL="0" indent="0" algn="ctr">
              <a:buNone/>
            </a:pPr>
            <a:r>
              <a:rPr lang="en-US" sz="950" b="1" dirty="0">
                <a:solidFill>
                  <a:srgbClr val="1B2520"/>
                </a:solidFill>
              </a:rPr>
              <a:t>Mealybug</a:t>
            </a:r>
            <a:endParaRPr lang="en-US" sz="950" dirty="0"/>
          </a:p>
        </p:txBody>
      </p:sp>
      <p:sp>
        <p:nvSpPr>
          <p:cNvPr id="19" name="Shape 12"/>
          <p:cNvSpPr/>
          <p:nvPr/>
        </p:nvSpPr>
        <p:spPr>
          <a:xfrm>
            <a:off x="3986784" y="3063240"/>
            <a:ext cx="1600200" cy="1417320"/>
          </a:xfrm>
          <a:prstGeom prst="roundRect">
            <a:avLst>
              <a:gd name="adj" fmla="val 6452"/>
            </a:avLst>
          </a:prstGeom>
          <a:solidFill>
            <a:srgbClr val="FFFFFF"/>
          </a:solidFill>
          <a:ln w="10160">
            <a:solidFill>
              <a:srgbClr val="D8D5CA"/>
            </a:solidFill>
            <a:prstDash val="solid"/>
          </a:ln>
        </p:spPr>
        <p:txBody>
          <a:bodyPr/>
          <a:lstStyle/>
          <a:p>
            <a:endParaRPr lang="en-US"/>
          </a:p>
        </p:txBody>
      </p:sp>
      <p:pic>
        <p:nvPicPr>
          <p:cNvPr id="20" name="Image 5" descr="/mnt/data/jute_samples/Jute_Aphid.jpg"/>
          <p:cNvPicPr>
            <a:picLocks noChangeAspect="1"/>
          </p:cNvPicPr>
          <p:nvPr/>
        </p:nvPicPr>
        <p:blipFill>
          <a:blip r:embed="rId8"/>
          <a:srcRect t="15758" b="15758"/>
          <a:stretch/>
        </p:blipFill>
        <p:spPr>
          <a:xfrm>
            <a:off x="4032504" y="3108960"/>
            <a:ext cx="1508760" cy="1033272"/>
          </a:xfrm>
          <a:prstGeom prst="rect">
            <a:avLst/>
          </a:prstGeom>
        </p:spPr>
      </p:pic>
      <p:sp>
        <p:nvSpPr>
          <p:cNvPr id="21" name="Text 13"/>
          <p:cNvSpPr/>
          <p:nvPr/>
        </p:nvSpPr>
        <p:spPr>
          <a:xfrm>
            <a:off x="4059936" y="4206240"/>
            <a:ext cx="1453896" cy="164592"/>
          </a:xfrm>
          <a:prstGeom prst="rect">
            <a:avLst/>
          </a:prstGeom>
          <a:noFill/>
          <a:ln/>
        </p:spPr>
        <p:txBody>
          <a:bodyPr wrap="square" lIns="0" tIns="0" rIns="0" bIns="0" rtlCol="0" anchor="ctr">
            <a:normAutofit/>
          </a:bodyPr>
          <a:lstStyle/>
          <a:p>
            <a:pPr marL="0" indent="0" algn="ctr">
              <a:buNone/>
            </a:pPr>
            <a:r>
              <a:rPr lang="en-US" sz="950" b="1" dirty="0">
                <a:solidFill>
                  <a:srgbClr val="1B2520"/>
                </a:solidFill>
              </a:rPr>
              <a:t>Jute Aphid</a:t>
            </a:r>
            <a:endParaRPr lang="en-US" sz="950" dirty="0"/>
          </a:p>
        </p:txBody>
      </p:sp>
      <p:sp>
        <p:nvSpPr>
          <p:cNvPr id="22" name="Text 14"/>
          <p:cNvSpPr/>
          <p:nvPr/>
        </p:nvSpPr>
        <p:spPr>
          <a:xfrm>
            <a:off x="594360" y="4709160"/>
            <a:ext cx="4983480" cy="256032"/>
          </a:xfrm>
          <a:prstGeom prst="rect">
            <a:avLst/>
          </a:prstGeom>
          <a:noFill/>
          <a:ln/>
        </p:spPr>
        <p:txBody>
          <a:bodyPr wrap="square" lIns="0" tIns="0" rIns="0" bIns="0" rtlCol="0" anchor="ctr"/>
          <a:lstStyle/>
          <a:p>
            <a:pPr marL="0" indent="0" algn="ctr">
              <a:buNone/>
            </a:pPr>
            <a:r>
              <a:rPr lang="en-US" sz="1000" i="1" dirty="0">
                <a:solidFill>
                  <a:srgbClr val="69756E"/>
                </a:solidFill>
              </a:rPr>
              <a:t>Examples from the downloaded UCI archive</a:t>
            </a:r>
            <a:endParaRPr lang="en-US" sz="1000" dirty="0"/>
          </a:p>
        </p:txBody>
      </p:sp>
      <p:sp>
        <p:nvSpPr>
          <p:cNvPr id="23" name="Shape 15"/>
          <p:cNvSpPr/>
          <p:nvPr/>
        </p:nvSpPr>
        <p:spPr>
          <a:xfrm>
            <a:off x="5870448" y="1417320"/>
            <a:ext cx="5715000" cy="4526280"/>
          </a:xfrm>
          <a:prstGeom prst="roundRect">
            <a:avLst>
              <a:gd name="adj" fmla="val 2020"/>
            </a:avLst>
          </a:prstGeom>
          <a:solidFill>
            <a:srgbClr val="FFFFFF"/>
          </a:solidFill>
          <a:ln w="10160">
            <a:solidFill>
              <a:srgbClr val="D8D5CA"/>
            </a:solidFill>
            <a:prstDash val="solid"/>
          </a:ln>
        </p:spPr>
        <p:txBody>
          <a:bodyPr/>
          <a:lstStyle/>
          <a:p>
            <a:endParaRPr lang="en-US"/>
          </a:p>
        </p:txBody>
      </p:sp>
      <p:sp>
        <p:nvSpPr>
          <p:cNvPr id="24" name="Text 16"/>
          <p:cNvSpPr/>
          <p:nvPr/>
        </p:nvSpPr>
        <p:spPr>
          <a:xfrm>
            <a:off x="6190488" y="1719072"/>
            <a:ext cx="2194560" cy="201168"/>
          </a:xfrm>
          <a:prstGeom prst="rect">
            <a:avLst/>
          </a:prstGeom>
          <a:noFill/>
          <a:ln/>
        </p:spPr>
        <p:txBody>
          <a:bodyPr wrap="square" lIns="0" tIns="0" rIns="0" bIns="0" rtlCol="0" anchor="ctr"/>
          <a:lstStyle/>
          <a:p>
            <a:pPr marL="0" indent="0">
              <a:buNone/>
            </a:pPr>
            <a:r>
              <a:rPr lang="en-US" sz="1000" b="1" dirty="0">
                <a:solidFill>
                  <a:srgbClr val="D9A441"/>
                </a:solidFill>
              </a:rPr>
              <a:t>CURRENT ARCHIVE COUNTS</a:t>
            </a:r>
            <a:endParaRPr lang="en-US" sz="1000" dirty="0"/>
          </a:p>
        </p:txBody>
      </p:sp>
      <p:sp>
        <p:nvSpPr>
          <p:cNvPr id="25" name="Text 17"/>
          <p:cNvSpPr/>
          <p:nvPr/>
        </p:nvSpPr>
        <p:spPr>
          <a:xfrm>
            <a:off x="6217920" y="2048256"/>
            <a:ext cx="1371600" cy="420624"/>
          </a:xfrm>
          <a:prstGeom prst="rect">
            <a:avLst/>
          </a:prstGeom>
          <a:noFill/>
          <a:ln/>
        </p:spPr>
        <p:txBody>
          <a:bodyPr wrap="square" lIns="0" tIns="0" rIns="0" bIns="0" rtlCol="0" anchor="ctr"/>
          <a:lstStyle/>
          <a:p>
            <a:pPr marL="0" indent="0" algn="ctr">
              <a:buNone/>
            </a:pPr>
            <a:r>
              <a:rPr lang="en-US" sz="2400" b="1" dirty="0">
                <a:solidFill>
                  <a:srgbClr val="163B2E"/>
                </a:solidFill>
              </a:rPr>
              <a:t>6,444</a:t>
            </a:r>
            <a:endParaRPr lang="en-US" sz="2400" dirty="0"/>
          </a:p>
        </p:txBody>
      </p:sp>
      <p:sp>
        <p:nvSpPr>
          <p:cNvPr id="26" name="Text 18"/>
          <p:cNvSpPr/>
          <p:nvPr/>
        </p:nvSpPr>
        <p:spPr>
          <a:xfrm>
            <a:off x="6217920" y="2487168"/>
            <a:ext cx="1371600" cy="201168"/>
          </a:xfrm>
          <a:prstGeom prst="rect">
            <a:avLst/>
          </a:prstGeom>
          <a:noFill/>
          <a:ln/>
        </p:spPr>
        <p:txBody>
          <a:bodyPr wrap="square" lIns="0" tIns="0" rIns="0" bIns="0" rtlCol="0" anchor="ctr"/>
          <a:lstStyle/>
          <a:p>
            <a:pPr marL="0" indent="0" algn="ctr">
              <a:buNone/>
            </a:pPr>
            <a:r>
              <a:rPr lang="en-US" sz="950" b="1" dirty="0">
                <a:solidFill>
                  <a:srgbClr val="69756E"/>
                </a:solidFill>
              </a:rPr>
              <a:t>TRAIN</a:t>
            </a:r>
            <a:endParaRPr lang="en-US" sz="950" dirty="0"/>
          </a:p>
        </p:txBody>
      </p:sp>
      <p:sp>
        <p:nvSpPr>
          <p:cNvPr id="27" name="Text 19"/>
          <p:cNvSpPr/>
          <p:nvPr/>
        </p:nvSpPr>
        <p:spPr>
          <a:xfrm>
            <a:off x="7909560" y="2048256"/>
            <a:ext cx="1371600" cy="420624"/>
          </a:xfrm>
          <a:prstGeom prst="rect">
            <a:avLst/>
          </a:prstGeom>
          <a:noFill/>
          <a:ln/>
        </p:spPr>
        <p:txBody>
          <a:bodyPr wrap="square" lIns="0" tIns="0" rIns="0" bIns="0" rtlCol="0" anchor="ctr"/>
          <a:lstStyle/>
          <a:p>
            <a:pPr marL="0" indent="0" algn="ctr">
              <a:buNone/>
            </a:pPr>
            <a:r>
              <a:rPr lang="en-US" sz="2400" b="1" dirty="0">
                <a:solidFill>
                  <a:srgbClr val="2E6A4D"/>
                </a:solidFill>
              </a:rPr>
              <a:t>413</a:t>
            </a:r>
            <a:endParaRPr lang="en-US" sz="2400" dirty="0"/>
          </a:p>
        </p:txBody>
      </p:sp>
      <p:sp>
        <p:nvSpPr>
          <p:cNvPr id="28" name="Text 20"/>
          <p:cNvSpPr/>
          <p:nvPr/>
        </p:nvSpPr>
        <p:spPr>
          <a:xfrm>
            <a:off x="7909560" y="2487168"/>
            <a:ext cx="1371600" cy="201168"/>
          </a:xfrm>
          <a:prstGeom prst="rect">
            <a:avLst/>
          </a:prstGeom>
          <a:noFill/>
          <a:ln/>
        </p:spPr>
        <p:txBody>
          <a:bodyPr wrap="square" lIns="0" tIns="0" rIns="0" bIns="0" rtlCol="0" anchor="ctr"/>
          <a:lstStyle/>
          <a:p>
            <a:pPr marL="0" indent="0" algn="ctr">
              <a:buNone/>
            </a:pPr>
            <a:r>
              <a:rPr lang="en-US" sz="950" b="1" dirty="0">
                <a:solidFill>
                  <a:srgbClr val="69756E"/>
                </a:solidFill>
              </a:rPr>
              <a:t>VALIDATION</a:t>
            </a:r>
            <a:endParaRPr lang="en-US" sz="950" dirty="0"/>
          </a:p>
        </p:txBody>
      </p:sp>
      <p:sp>
        <p:nvSpPr>
          <p:cNvPr id="29" name="Text 21"/>
          <p:cNvSpPr/>
          <p:nvPr/>
        </p:nvSpPr>
        <p:spPr>
          <a:xfrm>
            <a:off x="9601200" y="2048256"/>
            <a:ext cx="1371600" cy="420624"/>
          </a:xfrm>
          <a:prstGeom prst="rect">
            <a:avLst/>
          </a:prstGeom>
          <a:noFill/>
          <a:ln/>
        </p:spPr>
        <p:txBody>
          <a:bodyPr wrap="square" lIns="0" tIns="0" rIns="0" bIns="0" rtlCol="0" anchor="ctr"/>
          <a:lstStyle/>
          <a:p>
            <a:pPr marL="0" indent="0" algn="ctr">
              <a:buNone/>
            </a:pPr>
            <a:r>
              <a:rPr lang="en-US" sz="2400" b="1" dirty="0">
                <a:solidFill>
                  <a:srgbClr val="B96545"/>
                </a:solidFill>
              </a:rPr>
              <a:t>379</a:t>
            </a:r>
            <a:endParaRPr lang="en-US" sz="2400" dirty="0"/>
          </a:p>
        </p:txBody>
      </p:sp>
      <p:sp>
        <p:nvSpPr>
          <p:cNvPr id="30" name="Text 22"/>
          <p:cNvSpPr/>
          <p:nvPr/>
        </p:nvSpPr>
        <p:spPr>
          <a:xfrm>
            <a:off x="9601200" y="2487168"/>
            <a:ext cx="1371600" cy="201168"/>
          </a:xfrm>
          <a:prstGeom prst="rect">
            <a:avLst/>
          </a:prstGeom>
          <a:noFill/>
          <a:ln/>
        </p:spPr>
        <p:txBody>
          <a:bodyPr wrap="square" lIns="0" tIns="0" rIns="0" bIns="0" rtlCol="0" anchor="ctr"/>
          <a:lstStyle/>
          <a:p>
            <a:pPr marL="0" indent="0" algn="ctr">
              <a:buNone/>
            </a:pPr>
            <a:r>
              <a:rPr lang="en-US" sz="950" b="1" dirty="0">
                <a:solidFill>
                  <a:srgbClr val="69756E"/>
                </a:solidFill>
              </a:rPr>
              <a:t>TEST</a:t>
            </a:r>
            <a:endParaRPr lang="en-US" sz="950" dirty="0"/>
          </a:p>
        </p:txBody>
      </p:sp>
      <p:sp>
        <p:nvSpPr>
          <p:cNvPr id="31" name="Text 23"/>
          <p:cNvSpPr/>
          <p:nvPr/>
        </p:nvSpPr>
        <p:spPr>
          <a:xfrm>
            <a:off x="6236208" y="2889504"/>
            <a:ext cx="4983480" cy="310896"/>
          </a:xfrm>
          <a:prstGeom prst="rect">
            <a:avLst/>
          </a:prstGeom>
          <a:noFill/>
          <a:ln/>
        </p:spPr>
        <p:txBody>
          <a:bodyPr wrap="square" lIns="0" tIns="0" rIns="0" bIns="0" rtlCol="0" anchor="ctr"/>
          <a:lstStyle/>
          <a:p>
            <a:pPr marL="0" indent="0" algn="ctr">
              <a:buNone/>
            </a:pPr>
            <a:r>
              <a:rPr lang="en-US" sz="1550" b="1" dirty="0">
                <a:solidFill>
                  <a:srgbClr val="1B2520"/>
                </a:solidFill>
              </a:rPr>
              <a:t>7,236 image files in the downloaded archive</a:t>
            </a:r>
            <a:endParaRPr lang="en-US" sz="1550" dirty="0"/>
          </a:p>
        </p:txBody>
      </p:sp>
      <p:sp>
        <p:nvSpPr>
          <p:cNvPr id="32" name="Text 24"/>
          <p:cNvSpPr/>
          <p:nvPr/>
        </p:nvSpPr>
        <p:spPr>
          <a:xfrm>
            <a:off x="6309360" y="3246120"/>
            <a:ext cx="4800600" cy="384048"/>
          </a:xfrm>
          <a:prstGeom prst="rect">
            <a:avLst/>
          </a:prstGeom>
          <a:noFill/>
          <a:ln/>
        </p:spPr>
        <p:txBody>
          <a:bodyPr wrap="square" lIns="0" tIns="0" rIns="0" bIns="0" rtlCol="0" anchor="ctr">
            <a:normAutofit/>
          </a:bodyPr>
          <a:lstStyle/>
          <a:p>
            <a:pPr marL="0" indent="0" algn="ctr">
              <a:buNone/>
            </a:pPr>
            <a:r>
              <a:rPr lang="en-US" sz="1050" dirty="0">
                <a:solidFill>
                  <a:srgbClr val="69756E"/>
                </a:solidFill>
              </a:rPr>
              <a:t>UCI page reports 7,235 instances • images are organized into 17 labeled folders</a:t>
            </a:r>
            <a:endParaRPr lang="en-US" sz="1050" dirty="0"/>
          </a:p>
        </p:txBody>
      </p:sp>
      <p:sp>
        <p:nvSpPr>
          <p:cNvPr id="33" name="Shape 25"/>
          <p:cNvSpPr/>
          <p:nvPr/>
        </p:nvSpPr>
        <p:spPr>
          <a:xfrm>
            <a:off x="6245352" y="3794760"/>
            <a:ext cx="2148840" cy="1344168"/>
          </a:xfrm>
          <a:prstGeom prst="roundRect">
            <a:avLst>
              <a:gd name="adj" fmla="val 5442"/>
            </a:avLst>
          </a:prstGeom>
          <a:solidFill>
            <a:srgbClr val="E7EFE8"/>
          </a:solidFill>
          <a:ln w="12700">
            <a:solidFill>
              <a:srgbClr val="CFE0D3"/>
            </a:solidFill>
            <a:prstDash val="solid"/>
          </a:ln>
        </p:spPr>
        <p:txBody>
          <a:bodyPr/>
          <a:lstStyle/>
          <a:p>
            <a:endParaRPr lang="en-US"/>
          </a:p>
        </p:txBody>
      </p:sp>
      <p:sp>
        <p:nvSpPr>
          <p:cNvPr id="34" name="Text 26"/>
          <p:cNvSpPr/>
          <p:nvPr/>
        </p:nvSpPr>
        <p:spPr>
          <a:xfrm>
            <a:off x="6473952" y="4014216"/>
            <a:ext cx="1691640" cy="182880"/>
          </a:xfrm>
          <a:prstGeom prst="rect">
            <a:avLst/>
          </a:prstGeom>
          <a:noFill/>
          <a:ln/>
        </p:spPr>
        <p:txBody>
          <a:bodyPr wrap="square" lIns="0" tIns="0" rIns="0" bIns="0" rtlCol="0" anchor="ctr"/>
          <a:lstStyle/>
          <a:p>
            <a:pPr marL="0" indent="0" algn="ctr">
              <a:buNone/>
            </a:pPr>
            <a:r>
              <a:rPr lang="en-US" sz="950" b="1" dirty="0">
                <a:solidFill>
                  <a:srgbClr val="2E6A4D"/>
                </a:solidFill>
              </a:rPr>
              <a:t>CLASS IMBALANCE</a:t>
            </a:r>
            <a:endParaRPr lang="en-US" sz="950" dirty="0"/>
          </a:p>
        </p:txBody>
      </p:sp>
      <p:sp>
        <p:nvSpPr>
          <p:cNvPr id="35" name="Text 27"/>
          <p:cNvSpPr/>
          <p:nvPr/>
        </p:nvSpPr>
        <p:spPr>
          <a:xfrm>
            <a:off x="6428232" y="4315968"/>
            <a:ext cx="1783080" cy="301752"/>
          </a:xfrm>
          <a:prstGeom prst="rect">
            <a:avLst/>
          </a:prstGeom>
          <a:noFill/>
          <a:ln/>
        </p:spPr>
        <p:txBody>
          <a:bodyPr wrap="square" lIns="0" tIns="0" rIns="0" bIns="0" rtlCol="0" anchor="ctr"/>
          <a:lstStyle/>
          <a:p>
            <a:pPr marL="0" indent="0" algn="ctr">
              <a:buNone/>
            </a:pPr>
            <a:r>
              <a:rPr lang="en-US" sz="2000" b="1" dirty="0">
                <a:solidFill>
                  <a:srgbClr val="163B2E"/>
                </a:solidFill>
              </a:rPr>
              <a:t>199 → 676</a:t>
            </a:r>
            <a:endParaRPr lang="en-US" sz="2000" dirty="0"/>
          </a:p>
        </p:txBody>
      </p:sp>
      <p:sp>
        <p:nvSpPr>
          <p:cNvPr id="36" name="Text 28"/>
          <p:cNvSpPr/>
          <p:nvPr/>
        </p:nvSpPr>
        <p:spPr>
          <a:xfrm>
            <a:off x="6446520" y="4672584"/>
            <a:ext cx="1737360" cy="182880"/>
          </a:xfrm>
          <a:prstGeom prst="rect">
            <a:avLst/>
          </a:prstGeom>
          <a:noFill/>
          <a:ln/>
        </p:spPr>
        <p:txBody>
          <a:bodyPr wrap="square" lIns="0" tIns="0" rIns="0" bIns="0" rtlCol="0" anchor="ctr"/>
          <a:lstStyle/>
          <a:p>
            <a:pPr marL="0" indent="0" algn="ctr">
              <a:buNone/>
            </a:pPr>
            <a:r>
              <a:rPr lang="en-US" sz="900" dirty="0">
                <a:solidFill>
                  <a:srgbClr val="69756E"/>
                </a:solidFill>
              </a:rPr>
              <a:t>training images / class</a:t>
            </a:r>
            <a:endParaRPr lang="en-US" sz="900" dirty="0"/>
          </a:p>
        </p:txBody>
      </p:sp>
      <p:sp>
        <p:nvSpPr>
          <p:cNvPr id="37" name="Shape 29"/>
          <p:cNvSpPr/>
          <p:nvPr/>
        </p:nvSpPr>
        <p:spPr>
          <a:xfrm>
            <a:off x="8641080" y="3794760"/>
            <a:ext cx="2423160" cy="1344168"/>
          </a:xfrm>
          <a:prstGeom prst="roundRect">
            <a:avLst>
              <a:gd name="adj" fmla="val 5442"/>
            </a:avLst>
          </a:prstGeom>
          <a:solidFill>
            <a:srgbClr val="FFF1EC"/>
          </a:solidFill>
          <a:ln w="12700">
            <a:solidFill>
              <a:srgbClr val="E6B8A7"/>
            </a:solidFill>
            <a:prstDash val="solid"/>
          </a:ln>
        </p:spPr>
        <p:txBody>
          <a:bodyPr/>
          <a:lstStyle/>
          <a:p>
            <a:endParaRPr lang="en-US"/>
          </a:p>
        </p:txBody>
      </p:sp>
      <p:sp>
        <p:nvSpPr>
          <p:cNvPr id="38" name="Text 30"/>
          <p:cNvSpPr/>
          <p:nvPr/>
        </p:nvSpPr>
        <p:spPr>
          <a:xfrm>
            <a:off x="8869680" y="4014216"/>
            <a:ext cx="1965960" cy="182880"/>
          </a:xfrm>
          <a:prstGeom prst="rect">
            <a:avLst/>
          </a:prstGeom>
          <a:noFill/>
          <a:ln/>
        </p:spPr>
        <p:txBody>
          <a:bodyPr wrap="square" lIns="0" tIns="0" rIns="0" bIns="0" rtlCol="0" anchor="ctr"/>
          <a:lstStyle/>
          <a:p>
            <a:pPr marL="0" indent="0" algn="ctr">
              <a:buNone/>
            </a:pPr>
            <a:r>
              <a:rPr lang="en-US" sz="950" b="1" dirty="0">
                <a:solidFill>
                  <a:srgbClr val="B96545"/>
                </a:solidFill>
              </a:rPr>
              <a:t>INITIAL LEAKAGE AUDIT</a:t>
            </a:r>
            <a:endParaRPr lang="en-US" sz="950" dirty="0"/>
          </a:p>
        </p:txBody>
      </p:sp>
      <p:sp>
        <p:nvSpPr>
          <p:cNvPr id="39" name="Text 31"/>
          <p:cNvSpPr/>
          <p:nvPr/>
        </p:nvSpPr>
        <p:spPr>
          <a:xfrm>
            <a:off x="8842248" y="4297680"/>
            <a:ext cx="2011680" cy="274320"/>
          </a:xfrm>
          <a:prstGeom prst="rect">
            <a:avLst/>
          </a:prstGeom>
          <a:noFill/>
          <a:ln/>
        </p:spPr>
        <p:txBody>
          <a:bodyPr wrap="square" lIns="0" tIns="0" rIns="0" bIns="0" rtlCol="0" anchor="ctr"/>
          <a:lstStyle/>
          <a:p>
            <a:pPr marL="0" indent="0" algn="ctr">
              <a:buNone/>
            </a:pPr>
            <a:r>
              <a:rPr lang="en-US" sz="1800" b="1" dirty="0">
                <a:solidFill>
                  <a:srgbClr val="B84E45"/>
                </a:solidFill>
              </a:rPr>
              <a:t>96 groups</a:t>
            </a:r>
            <a:endParaRPr lang="en-US" sz="1800" dirty="0"/>
          </a:p>
        </p:txBody>
      </p:sp>
      <p:sp>
        <p:nvSpPr>
          <p:cNvPr id="40" name="Text 32"/>
          <p:cNvSpPr/>
          <p:nvPr/>
        </p:nvSpPr>
        <p:spPr>
          <a:xfrm>
            <a:off x="8842248" y="4608576"/>
            <a:ext cx="2011680" cy="164592"/>
          </a:xfrm>
          <a:prstGeom prst="rect">
            <a:avLst/>
          </a:prstGeom>
          <a:noFill/>
          <a:ln/>
        </p:spPr>
        <p:txBody>
          <a:bodyPr wrap="square" lIns="0" tIns="0" rIns="0" bIns="0" rtlCol="0" anchor="ctr"/>
          <a:lstStyle/>
          <a:p>
            <a:pPr marL="0" indent="0" algn="ctr">
              <a:buNone/>
            </a:pPr>
            <a:r>
              <a:rPr lang="en-US" sz="880" dirty="0">
                <a:solidFill>
                  <a:srgbClr val="69756E"/>
                </a:solidFill>
              </a:rPr>
              <a:t>exact duplicates cross splits</a:t>
            </a:r>
            <a:endParaRPr lang="en-US" sz="880" dirty="0"/>
          </a:p>
        </p:txBody>
      </p:sp>
      <p:sp>
        <p:nvSpPr>
          <p:cNvPr id="41" name="Text 33"/>
          <p:cNvSpPr/>
          <p:nvPr/>
        </p:nvSpPr>
        <p:spPr>
          <a:xfrm>
            <a:off x="8842248" y="4837176"/>
            <a:ext cx="2011680" cy="164592"/>
          </a:xfrm>
          <a:prstGeom prst="rect">
            <a:avLst/>
          </a:prstGeom>
          <a:noFill/>
          <a:ln/>
        </p:spPr>
        <p:txBody>
          <a:bodyPr wrap="square" lIns="0" tIns="0" rIns="0" bIns="0" rtlCol="0" anchor="ctr"/>
          <a:lstStyle/>
          <a:p>
            <a:pPr marL="0" indent="0" algn="ctr">
              <a:buNone/>
            </a:pPr>
            <a:r>
              <a:rPr lang="en-US" sz="870" b="1" dirty="0">
                <a:solidFill>
                  <a:srgbClr val="1B2520"/>
                </a:solidFill>
              </a:rPr>
              <a:t>17 test images overlap train/val</a:t>
            </a:r>
            <a:endParaRPr lang="en-US" sz="870" dirty="0"/>
          </a:p>
        </p:txBody>
      </p:sp>
      <p:sp>
        <p:nvSpPr>
          <p:cNvPr id="42" name="Text 34"/>
          <p:cNvSpPr/>
          <p:nvPr/>
        </p:nvSpPr>
        <p:spPr>
          <a:xfrm>
            <a:off x="6245352" y="5340096"/>
            <a:ext cx="4828032" cy="347472"/>
          </a:xfrm>
          <a:prstGeom prst="rect">
            <a:avLst/>
          </a:prstGeom>
          <a:noFill/>
          <a:ln/>
        </p:spPr>
        <p:txBody>
          <a:bodyPr wrap="square" lIns="0" tIns="0" rIns="0" bIns="0" rtlCol="0" anchor="ctr">
            <a:normAutofit lnSpcReduction="10000"/>
          </a:bodyPr>
          <a:lstStyle/>
          <a:p>
            <a:pPr marL="0" indent="0" algn="ctr">
              <a:buNone/>
            </a:pPr>
            <a:r>
              <a:rPr lang="en-US" sz="1180" b="1" dirty="0">
                <a:solidFill>
                  <a:srgbClr val="163B2E"/>
                </a:solidFill>
              </a:rPr>
              <a:t>Why it matters: we will report both the original split and a cleaned leakage-free evaluation.</a:t>
            </a:r>
            <a:endParaRPr lang="en-US" sz="1180" dirty="0"/>
          </a:p>
        </p:txBody>
      </p:sp>
      <p:sp>
        <p:nvSpPr>
          <p:cNvPr id="43" name="Text 35"/>
          <p:cNvSpPr/>
          <p:nvPr/>
        </p:nvSpPr>
        <p:spPr>
          <a:xfrm>
            <a:off x="5943600" y="6583680"/>
            <a:ext cx="5212080" cy="164592"/>
          </a:xfrm>
          <a:prstGeom prst="rect">
            <a:avLst/>
          </a:prstGeom>
          <a:noFill/>
          <a:ln/>
        </p:spPr>
        <p:txBody>
          <a:bodyPr wrap="square" lIns="0" tIns="0" rIns="0" bIns="0" rtlCol="0" anchor="ctr">
            <a:normAutofit/>
          </a:bodyPr>
          <a:lstStyle/>
          <a:p>
            <a:pPr marL="0" indent="0" algn="r">
              <a:buNone/>
            </a:pPr>
            <a:r>
              <a:rPr lang="en-US" sz="740" i="1" dirty="0">
                <a:solidFill>
                  <a:srgbClr val="8A918C"/>
                </a:solidFill>
              </a:rPr>
              <a:t>Source: UCI Jute Pest Dataset; archive audited by our group (Sept. 2026)</a:t>
            </a:r>
            <a:endParaRPr lang="en-US" sz="740" dirty="0"/>
          </a:p>
        </p:txBody>
      </p:sp>
      <p:sp>
        <p:nvSpPr>
          <p:cNvPr id="44" name="Slide Number Placeholder 0"/>
          <p:cNvSpPr>
            <a:spLocks noGrp="1"/>
          </p:cNvSpPr>
          <p:nvPr>
            <p:ph type="sldNum" sz="quarter" idx="4294967295"/>
          </p:nvPr>
        </p:nvSpPr>
        <p:spPr>
          <a:xfrm>
            <a:off x="11292840" y="6574536"/>
            <a:ext cx="41148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788078"/>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4114800" cy="228600"/>
          </a:xfrm>
          <a:prstGeom prst="rect">
            <a:avLst/>
          </a:prstGeom>
          <a:noFill/>
          <a:ln/>
        </p:spPr>
        <p:txBody>
          <a:bodyPr wrap="square" lIns="0" tIns="0" rIns="0" bIns="0" rtlCol="0" anchor="ctr"/>
          <a:lstStyle/>
          <a:p>
            <a:pPr marL="0" indent="0">
              <a:buNone/>
            </a:pPr>
            <a:r>
              <a:rPr lang="en-US" sz="1000" b="1" dirty="0">
                <a:solidFill>
                  <a:srgbClr val="D9A441"/>
                </a:solidFill>
              </a:rPr>
              <a:t>METHODS</a:t>
            </a:r>
            <a:endParaRPr lang="en-US" sz="1000" dirty="0"/>
          </a:p>
        </p:txBody>
      </p:sp>
      <p:sp>
        <p:nvSpPr>
          <p:cNvPr id="3" name="Text 1"/>
          <p:cNvSpPr/>
          <p:nvPr/>
        </p:nvSpPr>
        <p:spPr>
          <a:xfrm>
            <a:off x="502920" y="566928"/>
            <a:ext cx="11064240" cy="566928"/>
          </a:xfrm>
          <a:prstGeom prst="rect">
            <a:avLst/>
          </a:prstGeom>
          <a:noFill/>
          <a:ln/>
        </p:spPr>
        <p:txBody>
          <a:bodyPr wrap="square" lIns="0" tIns="0" rIns="0" bIns="0" rtlCol="0" anchor="ctr">
            <a:normAutofit fontScale="85000" lnSpcReduction="10000"/>
          </a:bodyPr>
          <a:lstStyle/>
          <a:p>
            <a:pPr marL="0" indent="0">
              <a:buNone/>
            </a:pPr>
            <a:r>
              <a:rPr lang="en-US" sz="2700" b="1" dirty="0">
                <a:solidFill>
                  <a:srgbClr val="163B2E"/>
                </a:solidFill>
              </a:rPr>
              <a:t>Proposed pipeline: turn images into numerical shape, color, and texture features</a:t>
            </a:r>
            <a:endParaRPr lang="en-US" sz="2700" dirty="0"/>
          </a:p>
        </p:txBody>
      </p:sp>
      <p:sp>
        <p:nvSpPr>
          <p:cNvPr id="4" name="Shape 2"/>
          <p:cNvSpPr/>
          <p:nvPr/>
        </p:nvSpPr>
        <p:spPr>
          <a:xfrm>
            <a:off x="548640" y="1828800"/>
            <a:ext cx="1600200" cy="1353312"/>
          </a:xfrm>
          <a:prstGeom prst="roundRect">
            <a:avLst>
              <a:gd name="adj" fmla="val 5405"/>
            </a:avLst>
          </a:prstGeom>
          <a:solidFill>
            <a:srgbClr val="E8EFE9"/>
          </a:solidFill>
          <a:ln w="15240">
            <a:solidFill>
              <a:srgbClr val="2E6A4D"/>
            </a:solidFill>
            <a:prstDash val="solid"/>
          </a:ln>
        </p:spPr>
        <p:txBody>
          <a:bodyPr/>
          <a:lstStyle/>
          <a:p>
            <a:endParaRPr lang="en-US"/>
          </a:p>
        </p:txBody>
      </p:sp>
      <p:sp>
        <p:nvSpPr>
          <p:cNvPr id="5" name="Text 3"/>
          <p:cNvSpPr/>
          <p:nvPr/>
        </p:nvSpPr>
        <p:spPr>
          <a:xfrm>
            <a:off x="685800" y="2039112"/>
            <a:ext cx="1325880" cy="237744"/>
          </a:xfrm>
          <a:prstGeom prst="rect">
            <a:avLst/>
          </a:prstGeom>
          <a:noFill/>
          <a:ln/>
        </p:spPr>
        <p:txBody>
          <a:bodyPr wrap="square" lIns="0" tIns="0" rIns="0" bIns="0" rtlCol="0" anchor="ctr">
            <a:normAutofit/>
          </a:bodyPr>
          <a:lstStyle/>
          <a:p>
            <a:pPr marL="0" indent="0" algn="ctr">
              <a:buNone/>
            </a:pPr>
            <a:r>
              <a:rPr lang="en-US" sz="1050" b="1" dirty="0">
                <a:solidFill>
                  <a:srgbClr val="2E6A4D"/>
                </a:solidFill>
              </a:rPr>
              <a:t>1  IMAGE</a:t>
            </a:r>
            <a:endParaRPr lang="en-US" sz="1050" dirty="0"/>
          </a:p>
        </p:txBody>
      </p:sp>
      <p:sp>
        <p:nvSpPr>
          <p:cNvPr id="6" name="Text 4"/>
          <p:cNvSpPr/>
          <p:nvPr/>
        </p:nvSpPr>
        <p:spPr>
          <a:xfrm>
            <a:off x="685800" y="2432304"/>
            <a:ext cx="1325880" cy="457200"/>
          </a:xfrm>
          <a:prstGeom prst="rect">
            <a:avLst/>
          </a:prstGeom>
          <a:noFill/>
          <a:ln/>
        </p:spPr>
        <p:txBody>
          <a:bodyPr wrap="square" lIns="0" tIns="0" rIns="0" bIns="0" rtlCol="0" anchor="ctr">
            <a:normAutofit/>
          </a:bodyPr>
          <a:lstStyle/>
          <a:p>
            <a:pPr marL="0" indent="0" algn="ctr">
              <a:buNone/>
            </a:pPr>
            <a:r>
              <a:rPr lang="en-US" sz="1320" b="1" dirty="0">
                <a:solidFill>
                  <a:srgbClr val="1B2520"/>
                </a:solidFill>
              </a:rPr>
              <a:t>Resize + normalize</a:t>
            </a:r>
            <a:endParaRPr lang="en-US" sz="1320" dirty="0"/>
          </a:p>
        </p:txBody>
      </p:sp>
      <p:sp>
        <p:nvSpPr>
          <p:cNvPr id="7" name="Shape 5"/>
          <p:cNvSpPr/>
          <p:nvPr/>
        </p:nvSpPr>
        <p:spPr>
          <a:xfrm>
            <a:off x="2240280" y="2286000"/>
            <a:ext cx="118872" cy="420624"/>
          </a:xfrm>
          <a:prstGeom prst="chevron">
            <a:avLst/>
          </a:prstGeom>
          <a:solidFill>
            <a:srgbClr val="BCC3BE"/>
          </a:solidFill>
          <a:ln w="12700">
            <a:solidFill>
              <a:srgbClr val="BCC3BE"/>
            </a:solidFill>
            <a:prstDash val="solid"/>
          </a:ln>
        </p:spPr>
        <p:txBody>
          <a:bodyPr/>
          <a:lstStyle/>
          <a:p>
            <a:endParaRPr lang="en-US"/>
          </a:p>
        </p:txBody>
      </p:sp>
      <p:sp>
        <p:nvSpPr>
          <p:cNvPr id="8" name="Shape 6"/>
          <p:cNvSpPr/>
          <p:nvPr/>
        </p:nvSpPr>
        <p:spPr>
          <a:xfrm>
            <a:off x="2450592" y="1828800"/>
            <a:ext cx="2331720" cy="1353312"/>
          </a:xfrm>
          <a:prstGeom prst="roundRect">
            <a:avLst>
              <a:gd name="adj" fmla="val 5405"/>
            </a:avLst>
          </a:prstGeom>
          <a:solidFill>
            <a:srgbClr val="F6EDD7"/>
          </a:solidFill>
          <a:ln w="15240">
            <a:solidFill>
              <a:srgbClr val="D9A441"/>
            </a:solidFill>
            <a:prstDash val="solid"/>
          </a:ln>
        </p:spPr>
        <p:txBody>
          <a:bodyPr/>
          <a:lstStyle/>
          <a:p>
            <a:endParaRPr lang="en-US"/>
          </a:p>
        </p:txBody>
      </p:sp>
      <p:sp>
        <p:nvSpPr>
          <p:cNvPr id="9" name="Text 7"/>
          <p:cNvSpPr/>
          <p:nvPr/>
        </p:nvSpPr>
        <p:spPr>
          <a:xfrm>
            <a:off x="2587752" y="2039112"/>
            <a:ext cx="2057400" cy="237744"/>
          </a:xfrm>
          <a:prstGeom prst="rect">
            <a:avLst/>
          </a:prstGeom>
          <a:noFill/>
          <a:ln/>
        </p:spPr>
        <p:txBody>
          <a:bodyPr wrap="square" lIns="0" tIns="0" rIns="0" bIns="0" rtlCol="0" anchor="ctr">
            <a:normAutofit/>
          </a:bodyPr>
          <a:lstStyle/>
          <a:p>
            <a:pPr marL="0" indent="0" algn="ctr">
              <a:buNone/>
            </a:pPr>
            <a:r>
              <a:rPr lang="en-US" sz="1050" b="1" dirty="0">
                <a:solidFill>
                  <a:srgbClr val="D9A441"/>
                </a:solidFill>
              </a:rPr>
              <a:t>2  FEATURE EXTRACTION</a:t>
            </a:r>
            <a:endParaRPr lang="en-US" sz="1050" dirty="0"/>
          </a:p>
        </p:txBody>
      </p:sp>
      <p:sp>
        <p:nvSpPr>
          <p:cNvPr id="10" name="Text 8"/>
          <p:cNvSpPr/>
          <p:nvPr/>
        </p:nvSpPr>
        <p:spPr>
          <a:xfrm>
            <a:off x="2587752" y="2432304"/>
            <a:ext cx="2057400" cy="457200"/>
          </a:xfrm>
          <a:prstGeom prst="rect">
            <a:avLst/>
          </a:prstGeom>
          <a:noFill/>
          <a:ln/>
        </p:spPr>
        <p:txBody>
          <a:bodyPr wrap="square" lIns="0" tIns="0" rIns="0" bIns="0" rtlCol="0" anchor="ctr">
            <a:normAutofit/>
          </a:bodyPr>
          <a:lstStyle/>
          <a:p>
            <a:pPr marL="0" indent="0" algn="ctr">
              <a:buNone/>
            </a:pPr>
            <a:r>
              <a:rPr lang="en-US" sz="1320" b="1" dirty="0">
                <a:solidFill>
                  <a:srgbClr val="1B2520"/>
                </a:solidFill>
              </a:rPr>
              <a:t>HOG • HSV histogram • LBP</a:t>
            </a:r>
            <a:endParaRPr lang="en-US" sz="1320" dirty="0"/>
          </a:p>
        </p:txBody>
      </p:sp>
      <p:sp>
        <p:nvSpPr>
          <p:cNvPr id="11" name="Shape 9"/>
          <p:cNvSpPr/>
          <p:nvPr/>
        </p:nvSpPr>
        <p:spPr>
          <a:xfrm>
            <a:off x="4873752" y="2286000"/>
            <a:ext cx="118872" cy="420624"/>
          </a:xfrm>
          <a:prstGeom prst="chevron">
            <a:avLst/>
          </a:prstGeom>
          <a:solidFill>
            <a:srgbClr val="BCC3BE"/>
          </a:solidFill>
          <a:ln w="12700">
            <a:solidFill>
              <a:srgbClr val="BCC3BE"/>
            </a:solidFill>
            <a:prstDash val="solid"/>
          </a:ln>
        </p:spPr>
        <p:txBody>
          <a:bodyPr/>
          <a:lstStyle/>
          <a:p>
            <a:endParaRPr lang="en-US"/>
          </a:p>
        </p:txBody>
      </p:sp>
      <p:sp>
        <p:nvSpPr>
          <p:cNvPr id="12" name="Shape 10"/>
          <p:cNvSpPr/>
          <p:nvPr/>
        </p:nvSpPr>
        <p:spPr>
          <a:xfrm>
            <a:off x="5084064" y="1828800"/>
            <a:ext cx="1645920" cy="1353312"/>
          </a:xfrm>
          <a:prstGeom prst="roundRect">
            <a:avLst>
              <a:gd name="adj" fmla="val 5405"/>
            </a:avLst>
          </a:prstGeom>
          <a:solidFill>
            <a:srgbClr val="E9EDF1"/>
          </a:solidFill>
          <a:ln w="15240">
            <a:solidFill>
              <a:srgbClr val="66809A"/>
            </a:solidFill>
            <a:prstDash val="solid"/>
          </a:ln>
        </p:spPr>
        <p:txBody>
          <a:bodyPr/>
          <a:lstStyle/>
          <a:p>
            <a:endParaRPr lang="en-US"/>
          </a:p>
        </p:txBody>
      </p:sp>
      <p:sp>
        <p:nvSpPr>
          <p:cNvPr id="13" name="Text 11"/>
          <p:cNvSpPr/>
          <p:nvPr/>
        </p:nvSpPr>
        <p:spPr>
          <a:xfrm>
            <a:off x="5221224" y="2039112"/>
            <a:ext cx="1371600" cy="237744"/>
          </a:xfrm>
          <a:prstGeom prst="rect">
            <a:avLst/>
          </a:prstGeom>
          <a:noFill/>
          <a:ln/>
        </p:spPr>
        <p:txBody>
          <a:bodyPr wrap="square" lIns="0" tIns="0" rIns="0" bIns="0" rtlCol="0" anchor="ctr">
            <a:normAutofit/>
          </a:bodyPr>
          <a:lstStyle/>
          <a:p>
            <a:pPr marL="0" indent="0" algn="ctr">
              <a:buNone/>
            </a:pPr>
            <a:r>
              <a:rPr lang="en-US" sz="1050" b="1" dirty="0">
                <a:solidFill>
                  <a:srgbClr val="66809A"/>
                </a:solidFill>
              </a:rPr>
              <a:t>3  PREP</a:t>
            </a:r>
            <a:endParaRPr lang="en-US" sz="1050" dirty="0"/>
          </a:p>
        </p:txBody>
      </p:sp>
      <p:sp>
        <p:nvSpPr>
          <p:cNvPr id="14" name="Text 12"/>
          <p:cNvSpPr/>
          <p:nvPr/>
        </p:nvSpPr>
        <p:spPr>
          <a:xfrm>
            <a:off x="5221224" y="2432304"/>
            <a:ext cx="1371600" cy="457200"/>
          </a:xfrm>
          <a:prstGeom prst="rect">
            <a:avLst/>
          </a:prstGeom>
          <a:noFill/>
          <a:ln/>
        </p:spPr>
        <p:txBody>
          <a:bodyPr wrap="square" lIns="0" tIns="0" rIns="0" bIns="0" rtlCol="0" anchor="ctr">
            <a:normAutofit/>
          </a:bodyPr>
          <a:lstStyle/>
          <a:p>
            <a:pPr marL="0" indent="0" algn="ctr">
              <a:buNone/>
            </a:pPr>
            <a:r>
              <a:rPr lang="en-US" sz="1320" b="1" dirty="0">
                <a:solidFill>
                  <a:srgbClr val="1B2520"/>
                </a:solidFill>
              </a:rPr>
              <a:t>Standardize</a:t>
            </a:r>
            <a:endParaRPr lang="en-US" sz="1320" dirty="0"/>
          </a:p>
          <a:p>
            <a:pPr marL="0" indent="0" algn="ctr">
              <a:buNone/>
            </a:pPr>
            <a:r>
              <a:rPr lang="en-US" sz="1320" b="1" dirty="0">
                <a:solidFill>
                  <a:srgbClr val="1B2520"/>
                </a:solidFill>
              </a:rPr>
              <a:t>Optional PCA</a:t>
            </a:r>
            <a:endParaRPr lang="en-US" sz="1320" dirty="0"/>
          </a:p>
        </p:txBody>
      </p:sp>
      <p:sp>
        <p:nvSpPr>
          <p:cNvPr id="15" name="Shape 13"/>
          <p:cNvSpPr/>
          <p:nvPr/>
        </p:nvSpPr>
        <p:spPr>
          <a:xfrm>
            <a:off x="6821424" y="2286000"/>
            <a:ext cx="128016" cy="420624"/>
          </a:xfrm>
          <a:prstGeom prst="chevron">
            <a:avLst/>
          </a:prstGeom>
          <a:solidFill>
            <a:srgbClr val="BCC3BE"/>
          </a:solidFill>
          <a:ln w="12700">
            <a:solidFill>
              <a:srgbClr val="BCC3BE"/>
            </a:solidFill>
            <a:prstDash val="solid"/>
          </a:ln>
        </p:spPr>
        <p:txBody>
          <a:bodyPr/>
          <a:lstStyle/>
          <a:p>
            <a:endParaRPr lang="en-US"/>
          </a:p>
        </p:txBody>
      </p:sp>
      <p:sp>
        <p:nvSpPr>
          <p:cNvPr id="16" name="Shape 14"/>
          <p:cNvSpPr/>
          <p:nvPr/>
        </p:nvSpPr>
        <p:spPr>
          <a:xfrm>
            <a:off x="7040880" y="1828800"/>
            <a:ext cx="2697480" cy="1353312"/>
          </a:xfrm>
          <a:prstGeom prst="roundRect">
            <a:avLst>
              <a:gd name="adj" fmla="val 5405"/>
            </a:avLst>
          </a:prstGeom>
          <a:solidFill>
            <a:srgbClr val="EEE8F2"/>
          </a:solidFill>
          <a:ln w="15240">
            <a:solidFill>
              <a:srgbClr val="725C82"/>
            </a:solidFill>
            <a:prstDash val="solid"/>
          </a:ln>
        </p:spPr>
        <p:txBody>
          <a:bodyPr/>
          <a:lstStyle/>
          <a:p>
            <a:endParaRPr lang="en-US"/>
          </a:p>
        </p:txBody>
      </p:sp>
      <p:sp>
        <p:nvSpPr>
          <p:cNvPr id="17" name="Text 15"/>
          <p:cNvSpPr/>
          <p:nvPr/>
        </p:nvSpPr>
        <p:spPr>
          <a:xfrm>
            <a:off x="7178040" y="2039112"/>
            <a:ext cx="2423160" cy="237744"/>
          </a:xfrm>
          <a:prstGeom prst="rect">
            <a:avLst/>
          </a:prstGeom>
          <a:noFill/>
          <a:ln/>
        </p:spPr>
        <p:txBody>
          <a:bodyPr wrap="square" lIns="0" tIns="0" rIns="0" bIns="0" rtlCol="0" anchor="ctr">
            <a:normAutofit/>
          </a:bodyPr>
          <a:lstStyle/>
          <a:p>
            <a:pPr marL="0" indent="0" algn="ctr">
              <a:buNone/>
            </a:pPr>
            <a:r>
              <a:rPr lang="en-US" sz="1050" b="1" dirty="0">
                <a:solidFill>
                  <a:srgbClr val="725C82"/>
                </a:solidFill>
              </a:rPr>
              <a:t>4  CLASSIFIERS</a:t>
            </a:r>
            <a:endParaRPr lang="en-US" sz="1050" dirty="0"/>
          </a:p>
        </p:txBody>
      </p:sp>
      <p:sp>
        <p:nvSpPr>
          <p:cNvPr id="18" name="Text 16"/>
          <p:cNvSpPr/>
          <p:nvPr/>
        </p:nvSpPr>
        <p:spPr>
          <a:xfrm>
            <a:off x="7178040" y="2432304"/>
            <a:ext cx="2423160" cy="457200"/>
          </a:xfrm>
          <a:prstGeom prst="rect">
            <a:avLst/>
          </a:prstGeom>
          <a:noFill/>
          <a:ln/>
        </p:spPr>
        <p:txBody>
          <a:bodyPr wrap="square" lIns="0" tIns="0" rIns="0" bIns="0" rtlCol="0" anchor="ctr">
            <a:normAutofit/>
          </a:bodyPr>
          <a:lstStyle/>
          <a:p>
            <a:pPr marL="0" indent="0" algn="ctr">
              <a:buNone/>
            </a:pPr>
            <a:r>
              <a:rPr lang="en-US" sz="1320" b="1" dirty="0">
                <a:solidFill>
                  <a:srgbClr val="1B2520"/>
                </a:solidFill>
              </a:rPr>
              <a:t>Logistic • KNN • SVM</a:t>
            </a:r>
            <a:endParaRPr lang="en-US" sz="1320" dirty="0"/>
          </a:p>
          <a:p>
            <a:pPr marL="0" indent="0" algn="ctr">
              <a:buNone/>
            </a:pPr>
            <a:r>
              <a:rPr lang="en-US" sz="1320" b="1" dirty="0">
                <a:solidFill>
                  <a:srgbClr val="1B2520"/>
                </a:solidFill>
              </a:rPr>
              <a:t>Decision Tree • Random Forest</a:t>
            </a:r>
            <a:endParaRPr lang="en-US" sz="1320" dirty="0"/>
          </a:p>
        </p:txBody>
      </p:sp>
      <p:sp>
        <p:nvSpPr>
          <p:cNvPr id="19" name="Shape 17"/>
          <p:cNvSpPr/>
          <p:nvPr/>
        </p:nvSpPr>
        <p:spPr>
          <a:xfrm>
            <a:off x="9829800" y="2286000"/>
            <a:ext cx="118872" cy="420624"/>
          </a:xfrm>
          <a:prstGeom prst="chevron">
            <a:avLst/>
          </a:prstGeom>
          <a:solidFill>
            <a:srgbClr val="BCC3BE"/>
          </a:solidFill>
          <a:ln w="12700">
            <a:solidFill>
              <a:srgbClr val="BCC3BE"/>
            </a:solidFill>
            <a:prstDash val="solid"/>
          </a:ln>
        </p:spPr>
        <p:txBody>
          <a:bodyPr/>
          <a:lstStyle/>
          <a:p>
            <a:endParaRPr lang="en-US"/>
          </a:p>
        </p:txBody>
      </p:sp>
      <p:sp>
        <p:nvSpPr>
          <p:cNvPr id="20" name="Shape 18"/>
          <p:cNvSpPr/>
          <p:nvPr/>
        </p:nvSpPr>
        <p:spPr>
          <a:xfrm>
            <a:off x="10040112" y="1828800"/>
            <a:ext cx="1600200" cy="1353312"/>
          </a:xfrm>
          <a:prstGeom prst="roundRect">
            <a:avLst>
              <a:gd name="adj" fmla="val 5405"/>
            </a:avLst>
          </a:prstGeom>
          <a:solidFill>
            <a:srgbClr val="F8E8E1"/>
          </a:solidFill>
          <a:ln w="15240">
            <a:solidFill>
              <a:srgbClr val="B96545"/>
            </a:solidFill>
            <a:prstDash val="solid"/>
          </a:ln>
        </p:spPr>
        <p:txBody>
          <a:bodyPr/>
          <a:lstStyle/>
          <a:p>
            <a:endParaRPr lang="en-US"/>
          </a:p>
        </p:txBody>
      </p:sp>
      <p:sp>
        <p:nvSpPr>
          <p:cNvPr id="21" name="Text 19"/>
          <p:cNvSpPr/>
          <p:nvPr/>
        </p:nvSpPr>
        <p:spPr>
          <a:xfrm>
            <a:off x="10177272" y="2039112"/>
            <a:ext cx="1325880" cy="237744"/>
          </a:xfrm>
          <a:prstGeom prst="rect">
            <a:avLst/>
          </a:prstGeom>
          <a:noFill/>
          <a:ln/>
        </p:spPr>
        <p:txBody>
          <a:bodyPr wrap="square" lIns="0" tIns="0" rIns="0" bIns="0" rtlCol="0" anchor="ctr">
            <a:normAutofit/>
          </a:bodyPr>
          <a:lstStyle/>
          <a:p>
            <a:pPr marL="0" indent="0" algn="ctr">
              <a:buNone/>
            </a:pPr>
            <a:r>
              <a:rPr lang="en-US" sz="1050" b="1" dirty="0">
                <a:solidFill>
                  <a:srgbClr val="B96545"/>
                </a:solidFill>
              </a:rPr>
              <a:t>5  OUTPUT</a:t>
            </a:r>
            <a:endParaRPr lang="en-US" sz="1050" dirty="0"/>
          </a:p>
        </p:txBody>
      </p:sp>
      <p:sp>
        <p:nvSpPr>
          <p:cNvPr id="22" name="Text 20"/>
          <p:cNvSpPr/>
          <p:nvPr/>
        </p:nvSpPr>
        <p:spPr>
          <a:xfrm>
            <a:off x="10177272" y="2432304"/>
            <a:ext cx="1325880" cy="457200"/>
          </a:xfrm>
          <a:prstGeom prst="rect">
            <a:avLst/>
          </a:prstGeom>
          <a:noFill/>
          <a:ln/>
        </p:spPr>
        <p:txBody>
          <a:bodyPr wrap="square" lIns="0" tIns="0" rIns="0" bIns="0" rtlCol="0" anchor="ctr">
            <a:normAutofit/>
          </a:bodyPr>
          <a:lstStyle/>
          <a:p>
            <a:pPr marL="0" indent="0" algn="ctr">
              <a:buNone/>
            </a:pPr>
            <a:r>
              <a:rPr lang="en-US" sz="1320" b="1" dirty="0">
                <a:solidFill>
                  <a:srgbClr val="1B2520"/>
                </a:solidFill>
              </a:rPr>
              <a:t>1 of 17 pest classes</a:t>
            </a:r>
            <a:endParaRPr lang="en-US" sz="1320" dirty="0"/>
          </a:p>
        </p:txBody>
      </p:sp>
      <p:sp>
        <p:nvSpPr>
          <p:cNvPr id="23" name="Text 21"/>
          <p:cNvSpPr/>
          <p:nvPr/>
        </p:nvSpPr>
        <p:spPr>
          <a:xfrm>
            <a:off x="640080" y="3547872"/>
            <a:ext cx="2880360" cy="210312"/>
          </a:xfrm>
          <a:prstGeom prst="rect">
            <a:avLst/>
          </a:prstGeom>
          <a:noFill/>
          <a:ln/>
        </p:spPr>
        <p:txBody>
          <a:bodyPr wrap="square" lIns="0" tIns="0" rIns="0" bIns="0" rtlCol="0" anchor="ctr"/>
          <a:lstStyle/>
          <a:p>
            <a:pPr marL="0" indent="0">
              <a:buNone/>
            </a:pPr>
            <a:r>
              <a:rPr lang="en-US" sz="1000" b="1" dirty="0">
                <a:solidFill>
                  <a:srgbClr val="D9A441"/>
                </a:solidFill>
              </a:rPr>
              <a:t>WHY THESE HANDCRAFTED FEATURES?</a:t>
            </a:r>
            <a:endParaRPr lang="en-US" sz="1000" dirty="0"/>
          </a:p>
        </p:txBody>
      </p:sp>
      <p:sp>
        <p:nvSpPr>
          <p:cNvPr id="24" name="Shape 22"/>
          <p:cNvSpPr/>
          <p:nvPr/>
        </p:nvSpPr>
        <p:spPr>
          <a:xfrm>
            <a:off x="658368" y="3867912"/>
            <a:ext cx="2788920" cy="1417320"/>
          </a:xfrm>
          <a:prstGeom prst="roundRect">
            <a:avLst>
              <a:gd name="adj" fmla="val 6452"/>
            </a:avLst>
          </a:prstGeom>
          <a:solidFill>
            <a:srgbClr val="FFFFFF"/>
          </a:solidFill>
          <a:ln w="10160">
            <a:solidFill>
              <a:srgbClr val="D8D5CA"/>
            </a:solidFill>
            <a:prstDash val="solid"/>
          </a:ln>
        </p:spPr>
        <p:txBody>
          <a:bodyPr/>
          <a:lstStyle/>
          <a:p>
            <a:endParaRPr lang="en-US"/>
          </a:p>
        </p:txBody>
      </p:sp>
      <p:sp>
        <p:nvSpPr>
          <p:cNvPr id="25" name="Shape 23"/>
          <p:cNvSpPr/>
          <p:nvPr/>
        </p:nvSpPr>
        <p:spPr>
          <a:xfrm>
            <a:off x="859536" y="4151376"/>
            <a:ext cx="566928" cy="566928"/>
          </a:xfrm>
          <a:prstGeom prst="ellipse">
            <a:avLst/>
          </a:prstGeom>
          <a:solidFill>
            <a:srgbClr val="2E6A4D"/>
          </a:solidFill>
          <a:ln w="12700">
            <a:solidFill>
              <a:srgbClr val="2E6A4D"/>
            </a:solidFill>
            <a:prstDash val="solid"/>
          </a:ln>
        </p:spPr>
        <p:txBody>
          <a:bodyPr/>
          <a:lstStyle/>
          <a:p>
            <a:endParaRPr lang="en-US"/>
          </a:p>
        </p:txBody>
      </p:sp>
      <p:sp>
        <p:nvSpPr>
          <p:cNvPr id="26" name="Text 24"/>
          <p:cNvSpPr/>
          <p:nvPr/>
        </p:nvSpPr>
        <p:spPr>
          <a:xfrm>
            <a:off x="859536" y="4315968"/>
            <a:ext cx="566928" cy="164592"/>
          </a:xfrm>
          <a:prstGeom prst="rect">
            <a:avLst/>
          </a:prstGeom>
          <a:noFill/>
          <a:ln/>
        </p:spPr>
        <p:txBody>
          <a:bodyPr wrap="square" lIns="0" tIns="0" rIns="0" bIns="0" rtlCol="0" anchor="ctr"/>
          <a:lstStyle/>
          <a:p>
            <a:pPr marL="0" indent="0" algn="ctr">
              <a:buNone/>
            </a:pPr>
            <a:r>
              <a:rPr lang="en-US" sz="1000" b="1" dirty="0">
                <a:solidFill>
                  <a:srgbClr val="FFFFFF"/>
                </a:solidFill>
              </a:rPr>
              <a:t>HOG</a:t>
            </a:r>
            <a:endParaRPr lang="en-US" sz="1000" dirty="0"/>
          </a:p>
        </p:txBody>
      </p:sp>
      <p:sp>
        <p:nvSpPr>
          <p:cNvPr id="27" name="Text 25"/>
          <p:cNvSpPr/>
          <p:nvPr/>
        </p:nvSpPr>
        <p:spPr>
          <a:xfrm>
            <a:off x="1572768" y="4050792"/>
            <a:ext cx="1627632" cy="228600"/>
          </a:xfrm>
          <a:prstGeom prst="rect">
            <a:avLst/>
          </a:prstGeom>
          <a:noFill/>
          <a:ln/>
        </p:spPr>
        <p:txBody>
          <a:bodyPr wrap="square" lIns="0" tIns="0" rIns="0" bIns="0" rtlCol="0" anchor="ctr"/>
          <a:lstStyle/>
          <a:p>
            <a:pPr marL="0" indent="0">
              <a:buNone/>
            </a:pPr>
            <a:r>
              <a:rPr lang="en-US" sz="1350" b="1" dirty="0">
                <a:solidFill>
                  <a:srgbClr val="163B2E"/>
                </a:solidFill>
              </a:rPr>
              <a:t>Shape / edges</a:t>
            </a:r>
            <a:endParaRPr lang="en-US" sz="1350" dirty="0"/>
          </a:p>
        </p:txBody>
      </p:sp>
      <p:sp>
        <p:nvSpPr>
          <p:cNvPr id="28" name="Text 26"/>
          <p:cNvSpPr/>
          <p:nvPr/>
        </p:nvSpPr>
        <p:spPr>
          <a:xfrm>
            <a:off x="1572768" y="4370832"/>
            <a:ext cx="1600200" cy="566928"/>
          </a:xfrm>
          <a:prstGeom prst="rect">
            <a:avLst/>
          </a:prstGeom>
          <a:noFill/>
          <a:ln/>
        </p:spPr>
        <p:txBody>
          <a:bodyPr wrap="square" lIns="0" tIns="0" rIns="0" bIns="0" rtlCol="0" anchor="ctr">
            <a:normAutofit/>
          </a:bodyPr>
          <a:lstStyle/>
          <a:p>
            <a:pPr marL="0" indent="0">
              <a:buNone/>
            </a:pPr>
            <a:r>
              <a:rPr lang="en-US" sz="1050" dirty="0">
                <a:solidFill>
                  <a:srgbClr val="69756E"/>
                </a:solidFill>
              </a:rPr>
              <a:t>Captures body outline, wings, legs and orientation.</a:t>
            </a:r>
            <a:endParaRPr lang="en-US" sz="1050" dirty="0"/>
          </a:p>
        </p:txBody>
      </p:sp>
      <p:sp>
        <p:nvSpPr>
          <p:cNvPr id="29" name="Shape 27"/>
          <p:cNvSpPr/>
          <p:nvPr/>
        </p:nvSpPr>
        <p:spPr>
          <a:xfrm>
            <a:off x="3822192" y="3867912"/>
            <a:ext cx="2788920" cy="1417320"/>
          </a:xfrm>
          <a:prstGeom prst="roundRect">
            <a:avLst>
              <a:gd name="adj" fmla="val 6452"/>
            </a:avLst>
          </a:prstGeom>
          <a:solidFill>
            <a:srgbClr val="FFFFFF"/>
          </a:solidFill>
          <a:ln w="10160">
            <a:solidFill>
              <a:srgbClr val="D8D5CA"/>
            </a:solidFill>
            <a:prstDash val="solid"/>
          </a:ln>
        </p:spPr>
        <p:txBody>
          <a:bodyPr/>
          <a:lstStyle/>
          <a:p>
            <a:endParaRPr lang="en-US"/>
          </a:p>
        </p:txBody>
      </p:sp>
      <p:sp>
        <p:nvSpPr>
          <p:cNvPr id="30" name="Shape 28"/>
          <p:cNvSpPr/>
          <p:nvPr/>
        </p:nvSpPr>
        <p:spPr>
          <a:xfrm>
            <a:off x="4023360" y="4151376"/>
            <a:ext cx="566928" cy="566928"/>
          </a:xfrm>
          <a:prstGeom prst="ellipse">
            <a:avLst/>
          </a:prstGeom>
          <a:solidFill>
            <a:srgbClr val="D9A441"/>
          </a:solidFill>
          <a:ln w="12700">
            <a:solidFill>
              <a:srgbClr val="D9A441"/>
            </a:solidFill>
            <a:prstDash val="solid"/>
          </a:ln>
        </p:spPr>
        <p:txBody>
          <a:bodyPr/>
          <a:lstStyle/>
          <a:p>
            <a:endParaRPr lang="en-US"/>
          </a:p>
        </p:txBody>
      </p:sp>
      <p:sp>
        <p:nvSpPr>
          <p:cNvPr id="31" name="Text 29"/>
          <p:cNvSpPr/>
          <p:nvPr/>
        </p:nvSpPr>
        <p:spPr>
          <a:xfrm>
            <a:off x="4023360" y="4315968"/>
            <a:ext cx="566928" cy="164592"/>
          </a:xfrm>
          <a:prstGeom prst="rect">
            <a:avLst/>
          </a:prstGeom>
          <a:noFill/>
          <a:ln/>
        </p:spPr>
        <p:txBody>
          <a:bodyPr wrap="square" lIns="0" tIns="0" rIns="0" bIns="0" rtlCol="0" anchor="ctr"/>
          <a:lstStyle/>
          <a:p>
            <a:pPr marL="0" indent="0" algn="ctr">
              <a:buNone/>
            </a:pPr>
            <a:r>
              <a:rPr lang="en-US" sz="1000" b="1" dirty="0">
                <a:solidFill>
                  <a:srgbClr val="FFFFFF"/>
                </a:solidFill>
              </a:rPr>
              <a:t>HSV</a:t>
            </a:r>
            <a:endParaRPr lang="en-US" sz="1000" dirty="0"/>
          </a:p>
        </p:txBody>
      </p:sp>
      <p:sp>
        <p:nvSpPr>
          <p:cNvPr id="32" name="Text 30"/>
          <p:cNvSpPr/>
          <p:nvPr/>
        </p:nvSpPr>
        <p:spPr>
          <a:xfrm>
            <a:off x="4736592" y="4050792"/>
            <a:ext cx="1627632" cy="228600"/>
          </a:xfrm>
          <a:prstGeom prst="rect">
            <a:avLst/>
          </a:prstGeom>
          <a:noFill/>
          <a:ln/>
        </p:spPr>
        <p:txBody>
          <a:bodyPr wrap="square" lIns="0" tIns="0" rIns="0" bIns="0" rtlCol="0" anchor="ctr"/>
          <a:lstStyle/>
          <a:p>
            <a:pPr marL="0" indent="0">
              <a:buNone/>
            </a:pPr>
            <a:r>
              <a:rPr lang="en-US" sz="1350" b="1" dirty="0">
                <a:solidFill>
                  <a:srgbClr val="163B2E"/>
                </a:solidFill>
              </a:rPr>
              <a:t>Color distribution</a:t>
            </a:r>
            <a:endParaRPr lang="en-US" sz="1350" dirty="0"/>
          </a:p>
        </p:txBody>
      </p:sp>
      <p:sp>
        <p:nvSpPr>
          <p:cNvPr id="33" name="Text 31"/>
          <p:cNvSpPr/>
          <p:nvPr/>
        </p:nvSpPr>
        <p:spPr>
          <a:xfrm>
            <a:off x="4736592" y="4370832"/>
            <a:ext cx="1600200" cy="566928"/>
          </a:xfrm>
          <a:prstGeom prst="rect">
            <a:avLst/>
          </a:prstGeom>
          <a:noFill/>
          <a:ln/>
        </p:spPr>
        <p:txBody>
          <a:bodyPr wrap="square" lIns="0" tIns="0" rIns="0" bIns="0" rtlCol="0" anchor="ctr">
            <a:normAutofit/>
          </a:bodyPr>
          <a:lstStyle/>
          <a:p>
            <a:pPr marL="0" indent="0">
              <a:buNone/>
            </a:pPr>
            <a:r>
              <a:rPr lang="en-US" sz="1050" dirty="0">
                <a:solidFill>
                  <a:srgbClr val="69756E"/>
                </a:solidFill>
              </a:rPr>
              <a:t>Captures color differences while reducing sensitivity to brightness.</a:t>
            </a:r>
            <a:endParaRPr lang="en-US" sz="1050" dirty="0"/>
          </a:p>
        </p:txBody>
      </p:sp>
      <p:sp>
        <p:nvSpPr>
          <p:cNvPr id="34" name="Shape 32"/>
          <p:cNvSpPr/>
          <p:nvPr/>
        </p:nvSpPr>
        <p:spPr>
          <a:xfrm>
            <a:off x="6986016" y="3867912"/>
            <a:ext cx="2788920" cy="1417320"/>
          </a:xfrm>
          <a:prstGeom prst="roundRect">
            <a:avLst>
              <a:gd name="adj" fmla="val 6452"/>
            </a:avLst>
          </a:prstGeom>
          <a:solidFill>
            <a:srgbClr val="FFFFFF"/>
          </a:solidFill>
          <a:ln w="10160">
            <a:solidFill>
              <a:srgbClr val="D8D5CA"/>
            </a:solidFill>
            <a:prstDash val="solid"/>
          </a:ln>
        </p:spPr>
        <p:txBody>
          <a:bodyPr/>
          <a:lstStyle/>
          <a:p>
            <a:endParaRPr lang="en-US"/>
          </a:p>
        </p:txBody>
      </p:sp>
      <p:sp>
        <p:nvSpPr>
          <p:cNvPr id="35" name="Shape 33"/>
          <p:cNvSpPr/>
          <p:nvPr/>
        </p:nvSpPr>
        <p:spPr>
          <a:xfrm>
            <a:off x="7187184" y="4151376"/>
            <a:ext cx="566928" cy="566928"/>
          </a:xfrm>
          <a:prstGeom prst="ellipse">
            <a:avLst/>
          </a:prstGeom>
          <a:solidFill>
            <a:srgbClr val="B96545"/>
          </a:solidFill>
          <a:ln w="12700">
            <a:solidFill>
              <a:srgbClr val="B96545"/>
            </a:solidFill>
            <a:prstDash val="solid"/>
          </a:ln>
        </p:spPr>
        <p:txBody>
          <a:bodyPr/>
          <a:lstStyle/>
          <a:p>
            <a:endParaRPr lang="en-US"/>
          </a:p>
        </p:txBody>
      </p:sp>
      <p:sp>
        <p:nvSpPr>
          <p:cNvPr id="36" name="Text 34"/>
          <p:cNvSpPr/>
          <p:nvPr/>
        </p:nvSpPr>
        <p:spPr>
          <a:xfrm>
            <a:off x="7187184" y="4315968"/>
            <a:ext cx="566928" cy="164592"/>
          </a:xfrm>
          <a:prstGeom prst="rect">
            <a:avLst/>
          </a:prstGeom>
          <a:noFill/>
          <a:ln/>
        </p:spPr>
        <p:txBody>
          <a:bodyPr wrap="square" lIns="0" tIns="0" rIns="0" bIns="0" rtlCol="0" anchor="ctr"/>
          <a:lstStyle/>
          <a:p>
            <a:pPr marL="0" indent="0" algn="ctr">
              <a:buNone/>
            </a:pPr>
            <a:r>
              <a:rPr lang="en-US" sz="1000" b="1" dirty="0">
                <a:solidFill>
                  <a:srgbClr val="FFFFFF"/>
                </a:solidFill>
              </a:rPr>
              <a:t>LBP</a:t>
            </a:r>
            <a:endParaRPr lang="en-US" sz="1000" dirty="0"/>
          </a:p>
        </p:txBody>
      </p:sp>
      <p:sp>
        <p:nvSpPr>
          <p:cNvPr id="37" name="Text 35"/>
          <p:cNvSpPr/>
          <p:nvPr/>
        </p:nvSpPr>
        <p:spPr>
          <a:xfrm>
            <a:off x="7900416" y="4050792"/>
            <a:ext cx="1627632" cy="228600"/>
          </a:xfrm>
          <a:prstGeom prst="rect">
            <a:avLst/>
          </a:prstGeom>
          <a:noFill/>
          <a:ln/>
        </p:spPr>
        <p:txBody>
          <a:bodyPr wrap="square" lIns="0" tIns="0" rIns="0" bIns="0" rtlCol="0" anchor="ctr"/>
          <a:lstStyle/>
          <a:p>
            <a:pPr marL="0" indent="0">
              <a:buNone/>
            </a:pPr>
            <a:r>
              <a:rPr lang="en-US" sz="1350" b="1" dirty="0">
                <a:solidFill>
                  <a:srgbClr val="163B2E"/>
                </a:solidFill>
              </a:rPr>
              <a:t>Texture</a:t>
            </a:r>
            <a:endParaRPr lang="en-US" sz="1350" dirty="0"/>
          </a:p>
        </p:txBody>
      </p:sp>
      <p:sp>
        <p:nvSpPr>
          <p:cNvPr id="38" name="Text 36"/>
          <p:cNvSpPr/>
          <p:nvPr/>
        </p:nvSpPr>
        <p:spPr>
          <a:xfrm>
            <a:off x="7900416" y="4370832"/>
            <a:ext cx="1600200" cy="566928"/>
          </a:xfrm>
          <a:prstGeom prst="rect">
            <a:avLst/>
          </a:prstGeom>
          <a:noFill/>
          <a:ln/>
        </p:spPr>
        <p:txBody>
          <a:bodyPr wrap="square" lIns="0" tIns="0" rIns="0" bIns="0" rtlCol="0" anchor="ctr">
            <a:normAutofit/>
          </a:bodyPr>
          <a:lstStyle/>
          <a:p>
            <a:pPr marL="0" indent="0">
              <a:buNone/>
            </a:pPr>
            <a:r>
              <a:rPr lang="en-US" sz="1050" dirty="0">
                <a:solidFill>
                  <a:srgbClr val="69756E"/>
                </a:solidFill>
              </a:rPr>
              <a:t>Captures local surface patterns such as hair, shell and wing texture.</a:t>
            </a:r>
            <a:endParaRPr lang="en-US" sz="1050" dirty="0"/>
          </a:p>
        </p:txBody>
      </p:sp>
      <p:sp>
        <p:nvSpPr>
          <p:cNvPr id="39" name="Shape 37"/>
          <p:cNvSpPr/>
          <p:nvPr/>
        </p:nvSpPr>
        <p:spPr>
          <a:xfrm>
            <a:off x="10030968" y="3867912"/>
            <a:ext cx="1591056" cy="1417320"/>
          </a:xfrm>
          <a:prstGeom prst="roundRect">
            <a:avLst>
              <a:gd name="adj" fmla="val 5161"/>
            </a:avLst>
          </a:prstGeom>
          <a:solidFill>
            <a:srgbClr val="163B2E"/>
          </a:solidFill>
          <a:ln w="12700">
            <a:solidFill>
              <a:srgbClr val="163B2E"/>
            </a:solidFill>
            <a:prstDash val="solid"/>
          </a:ln>
        </p:spPr>
        <p:txBody>
          <a:bodyPr/>
          <a:lstStyle/>
          <a:p>
            <a:endParaRPr lang="en-US"/>
          </a:p>
        </p:txBody>
      </p:sp>
      <p:sp>
        <p:nvSpPr>
          <p:cNvPr id="40" name="Text 38"/>
          <p:cNvSpPr/>
          <p:nvPr/>
        </p:nvSpPr>
        <p:spPr>
          <a:xfrm>
            <a:off x="10213848" y="4105656"/>
            <a:ext cx="1225296" cy="868680"/>
          </a:xfrm>
          <a:prstGeom prst="rect">
            <a:avLst/>
          </a:prstGeom>
          <a:noFill/>
          <a:ln/>
        </p:spPr>
        <p:txBody>
          <a:bodyPr wrap="square" lIns="0" tIns="0" rIns="0" bIns="0" rtlCol="0" anchor="ctr"/>
          <a:lstStyle/>
          <a:p>
            <a:pPr marL="0" indent="0" algn="ctr">
              <a:buNone/>
            </a:pPr>
            <a:r>
              <a:rPr lang="en-US" sz="1600" b="1" dirty="0">
                <a:solidFill>
                  <a:srgbClr val="FFFFFF"/>
                </a:solidFill>
              </a:rPr>
              <a:t>NO</a:t>
            </a:r>
            <a:endParaRPr lang="en-US" sz="1600" dirty="0"/>
          </a:p>
          <a:p>
            <a:pPr marL="0" indent="0" algn="ctr">
              <a:buNone/>
            </a:pPr>
            <a:r>
              <a:rPr lang="en-US" sz="1600" b="1" dirty="0">
                <a:solidFill>
                  <a:srgbClr val="FFFFFF"/>
                </a:solidFill>
              </a:rPr>
              <a:t>NEURAL</a:t>
            </a:r>
            <a:endParaRPr lang="en-US" sz="1600" dirty="0"/>
          </a:p>
          <a:p>
            <a:pPr marL="0" indent="0" algn="ctr">
              <a:buNone/>
            </a:pPr>
            <a:r>
              <a:rPr lang="en-US" sz="1600" b="1" dirty="0">
                <a:solidFill>
                  <a:srgbClr val="FFFFFF"/>
                </a:solidFill>
              </a:rPr>
              <a:t>NETWORKS</a:t>
            </a:r>
            <a:endParaRPr lang="en-US" sz="1600" dirty="0"/>
          </a:p>
        </p:txBody>
      </p:sp>
      <p:sp>
        <p:nvSpPr>
          <p:cNvPr id="41" name="Text 39"/>
          <p:cNvSpPr/>
          <p:nvPr/>
        </p:nvSpPr>
        <p:spPr>
          <a:xfrm>
            <a:off x="658368" y="5586984"/>
            <a:ext cx="10954512" cy="320040"/>
          </a:xfrm>
          <a:prstGeom prst="rect">
            <a:avLst/>
          </a:prstGeom>
          <a:noFill/>
          <a:ln/>
        </p:spPr>
        <p:txBody>
          <a:bodyPr wrap="square" lIns="0" tIns="0" rIns="0" bIns="0" rtlCol="0" anchor="ctr"/>
          <a:lstStyle/>
          <a:p>
            <a:pPr marL="0" indent="0" algn="ctr">
              <a:buNone/>
            </a:pPr>
            <a:r>
              <a:rPr lang="en-US" sz="1200" b="1" dirty="0">
                <a:solidFill>
                  <a:srgbClr val="2E6A4D"/>
                </a:solidFill>
              </a:rPr>
              <a:t>Course-aligned classification methods</a:t>
            </a:r>
            <a:endParaRPr lang="en-US" sz="1200" dirty="0"/>
          </a:p>
        </p:txBody>
      </p:sp>
      <p:sp>
        <p:nvSpPr>
          <p:cNvPr id="42" name="Text 40"/>
          <p:cNvSpPr/>
          <p:nvPr/>
        </p:nvSpPr>
        <p:spPr>
          <a:xfrm>
            <a:off x="5943600" y="6583680"/>
            <a:ext cx="5212080" cy="164592"/>
          </a:xfrm>
          <a:prstGeom prst="rect">
            <a:avLst/>
          </a:prstGeom>
          <a:noFill/>
          <a:ln/>
        </p:spPr>
        <p:txBody>
          <a:bodyPr wrap="square" lIns="0" tIns="0" rIns="0" bIns="0" rtlCol="0" anchor="ctr">
            <a:normAutofit/>
          </a:bodyPr>
          <a:lstStyle/>
          <a:p>
            <a:pPr marL="0" indent="0" algn="r">
              <a:buNone/>
            </a:pPr>
            <a:r>
              <a:rPr lang="en-US" sz="740" i="1" dirty="0">
                <a:solidFill>
                  <a:srgbClr val="8A918C"/>
                </a:solidFill>
              </a:rPr>
              <a:t>Course methods include logistic regression, SVM, nearest neighbors and tree-based methods.</a:t>
            </a:r>
            <a:endParaRPr lang="en-US" sz="740" dirty="0"/>
          </a:p>
        </p:txBody>
      </p:sp>
      <p:sp>
        <p:nvSpPr>
          <p:cNvPr id="43" name="Slide Number Placeholder 0"/>
          <p:cNvSpPr>
            <a:spLocks noGrp="1"/>
          </p:cNvSpPr>
          <p:nvPr>
            <p:ph type="sldNum" sz="quarter" idx="4294967295"/>
          </p:nvPr>
        </p:nvSpPr>
        <p:spPr>
          <a:xfrm>
            <a:off x="11292840" y="6574536"/>
            <a:ext cx="41148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788078"/>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0040"/>
            <a:ext cx="4114800" cy="228600"/>
          </a:xfrm>
          <a:prstGeom prst="rect">
            <a:avLst/>
          </a:prstGeom>
          <a:noFill/>
          <a:ln/>
        </p:spPr>
        <p:txBody>
          <a:bodyPr wrap="square" lIns="0" tIns="0" rIns="0" bIns="0" rtlCol="0" anchor="ctr"/>
          <a:lstStyle/>
          <a:p>
            <a:pPr marL="0" indent="0">
              <a:buNone/>
            </a:pPr>
            <a:r>
              <a:rPr lang="en-US" sz="1000" b="1" dirty="0">
                <a:solidFill>
                  <a:srgbClr val="D9A441"/>
                </a:solidFill>
              </a:rPr>
              <a:t>INTENDED EXPERIMENTS &amp; EVALUATION</a:t>
            </a:r>
            <a:endParaRPr lang="en-US" sz="1000" dirty="0"/>
          </a:p>
        </p:txBody>
      </p:sp>
      <p:sp>
        <p:nvSpPr>
          <p:cNvPr id="3" name="Text 1"/>
          <p:cNvSpPr/>
          <p:nvPr/>
        </p:nvSpPr>
        <p:spPr>
          <a:xfrm>
            <a:off x="502920" y="566928"/>
            <a:ext cx="11064240" cy="566928"/>
          </a:xfrm>
          <a:prstGeom prst="rect">
            <a:avLst/>
          </a:prstGeom>
          <a:noFill/>
          <a:ln/>
        </p:spPr>
        <p:txBody>
          <a:bodyPr wrap="square" lIns="0" tIns="0" rIns="0" bIns="0" rtlCol="0" anchor="ctr">
            <a:normAutofit fontScale="77500" lnSpcReduction="20000"/>
          </a:bodyPr>
          <a:lstStyle/>
          <a:p>
            <a:pPr marL="0" indent="0">
              <a:buNone/>
            </a:pPr>
            <a:r>
              <a:rPr lang="en-US" sz="2700" b="1" dirty="0">
                <a:solidFill>
                  <a:srgbClr val="163B2E"/>
                </a:solidFill>
              </a:rPr>
              <a:t>Experiments: not just “which model wins?” — we test what actually drives performance</a:t>
            </a:r>
            <a:endParaRPr lang="en-US" sz="2700" dirty="0"/>
          </a:p>
        </p:txBody>
      </p:sp>
      <p:sp>
        <p:nvSpPr>
          <p:cNvPr id="4" name="Shape 2"/>
          <p:cNvSpPr/>
          <p:nvPr/>
        </p:nvSpPr>
        <p:spPr>
          <a:xfrm>
            <a:off x="566928" y="1371600"/>
            <a:ext cx="6656832" cy="4681728"/>
          </a:xfrm>
          <a:prstGeom prst="roundRect">
            <a:avLst>
              <a:gd name="adj" fmla="val 1953"/>
            </a:avLst>
          </a:prstGeom>
          <a:solidFill>
            <a:srgbClr val="FFFFFF"/>
          </a:solidFill>
          <a:ln w="10160">
            <a:solidFill>
              <a:srgbClr val="D8D5CA"/>
            </a:solidFill>
            <a:prstDash val="solid"/>
          </a:ln>
        </p:spPr>
        <p:txBody>
          <a:bodyPr/>
          <a:lstStyle/>
          <a:p>
            <a:endParaRPr lang="en-US"/>
          </a:p>
        </p:txBody>
      </p:sp>
      <p:sp>
        <p:nvSpPr>
          <p:cNvPr id="5" name="Text 3"/>
          <p:cNvSpPr/>
          <p:nvPr/>
        </p:nvSpPr>
        <p:spPr>
          <a:xfrm>
            <a:off x="868680" y="1664208"/>
            <a:ext cx="2011680" cy="201168"/>
          </a:xfrm>
          <a:prstGeom prst="rect">
            <a:avLst/>
          </a:prstGeom>
          <a:noFill/>
          <a:ln/>
        </p:spPr>
        <p:txBody>
          <a:bodyPr wrap="square" lIns="0" tIns="0" rIns="0" bIns="0" rtlCol="0" anchor="ctr"/>
          <a:lstStyle/>
          <a:p>
            <a:pPr marL="0" indent="0">
              <a:buNone/>
            </a:pPr>
            <a:r>
              <a:rPr lang="en-US" sz="1000" b="1" dirty="0">
                <a:solidFill>
                  <a:srgbClr val="D9A441"/>
                </a:solidFill>
              </a:rPr>
              <a:t>PLANNED EXPERIMENTS</a:t>
            </a:r>
            <a:endParaRPr lang="en-US" sz="1000" dirty="0"/>
          </a:p>
        </p:txBody>
      </p:sp>
      <p:sp>
        <p:nvSpPr>
          <p:cNvPr id="6" name="Shape 4"/>
          <p:cNvSpPr/>
          <p:nvPr/>
        </p:nvSpPr>
        <p:spPr>
          <a:xfrm>
            <a:off x="868680" y="2039112"/>
            <a:ext cx="457200" cy="384048"/>
          </a:xfrm>
          <a:prstGeom prst="roundRect">
            <a:avLst>
              <a:gd name="adj" fmla="val 19048"/>
            </a:avLst>
          </a:prstGeom>
          <a:solidFill>
            <a:srgbClr val="E7EFE8"/>
          </a:solidFill>
          <a:ln w="12700">
            <a:solidFill>
              <a:srgbClr val="CFE0D3"/>
            </a:solidFill>
            <a:prstDash val="solid"/>
          </a:ln>
        </p:spPr>
        <p:txBody>
          <a:bodyPr/>
          <a:lstStyle/>
          <a:p>
            <a:endParaRPr lang="en-US"/>
          </a:p>
        </p:txBody>
      </p:sp>
      <p:sp>
        <p:nvSpPr>
          <p:cNvPr id="7" name="Text 5"/>
          <p:cNvSpPr/>
          <p:nvPr/>
        </p:nvSpPr>
        <p:spPr>
          <a:xfrm>
            <a:off x="932688" y="2135124"/>
            <a:ext cx="329184" cy="155448"/>
          </a:xfrm>
          <a:prstGeom prst="rect">
            <a:avLst/>
          </a:prstGeom>
          <a:noFill/>
          <a:ln/>
        </p:spPr>
        <p:txBody>
          <a:bodyPr wrap="square" lIns="0" tIns="0" rIns="0" bIns="0" rtlCol="0" anchor="ctr"/>
          <a:lstStyle/>
          <a:p>
            <a:pPr marL="0" indent="0" algn="ctr">
              <a:buNone/>
            </a:pPr>
            <a:r>
              <a:rPr lang="en-US" sz="950" b="1" dirty="0">
                <a:solidFill>
                  <a:srgbClr val="2E6A4D"/>
                </a:solidFill>
              </a:rPr>
              <a:t>01</a:t>
            </a:r>
            <a:endParaRPr lang="en-US" sz="950" dirty="0"/>
          </a:p>
        </p:txBody>
      </p:sp>
      <p:sp>
        <p:nvSpPr>
          <p:cNvPr id="8" name="Text 6"/>
          <p:cNvSpPr/>
          <p:nvPr/>
        </p:nvSpPr>
        <p:spPr>
          <a:xfrm>
            <a:off x="1508760" y="2034540"/>
            <a:ext cx="1874520" cy="210312"/>
          </a:xfrm>
          <a:prstGeom prst="rect">
            <a:avLst/>
          </a:prstGeom>
          <a:noFill/>
          <a:ln/>
        </p:spPr>
        <p:txBody>
          <a:bodyPr wrap="square" lIns="0" tIns="0" rIns="0" bIns="0" rtlCol="0" anchor="ctr"/>
          <a:lstStyle/>
          <a:p>
            <a:pPr marL="0" indent="0">
              <a:buNone/>
            </a:pPr>
            <a:r>
              <a:rPr lang="en-US" sz="1220" b="1" dirty="0">
                <a:solidFill>
                  <a:srgbClr val="163B2E"/>
                </a:solidFill>
              </a:rPr>
              <a:t>Feature ablation</a:t>
            </a:r>
            <a:endParaRPr lang="en-US" sz="1220" dirty="0"/>
          </a:p>
        </p:txBody>
      </p:sp>
      <p:sp>
        <p:nvSpPr>
          <p:cNvPr id="9" name="Text 7"/>
          <p:cNvSpPr/>
          <p:nvPr/>
        </p:nvSpPr>
        <p:spPr>
          <a:xfrm>
            <a:off x="3456432" y="2034540"/>
            <a:ext cx="3337560" cy="393192"/>
          </a:xfrm>
          <a:prstGeom prst="rect">
            <a:avLst/>
          </a:prstGeom>
          <a:noFill/>
          <a:ln/>
        </p:spPr>
        <p:txBody>
          <a:bodyPr wrap="square" lIns="0" tIns="0" rIns="0" bIns="0" rtlCol="0" anchor="ctr">
            <a:normAutofit/>
          </a:bodyPr>
          <a:lstStyle/>
          <a:p>
            <a:pPr marL="0" indent="0">
              <a:buNone/>
            </a:pPr>
            <a:r>
              <a:rPr lang="en-US" sz="1040" dirty="0">
                <a:solidFill>
                  <a:srgbClr val="69756E"/>
                </a:solidFill>
              </a:rPr>
              <a:t>HOG vs color vs texture vs combined features.</a:t>
            </a:r>
            <a:endParaRPr lang="en-US" sz="1040" dirty="0"/>
          </a:p>
        </p:txBody>
      </p:sp>
      <p:sp>
        <p:nvSpPr>
          <p:cNvPr id="10" name="Shape 8"/>
          <p:cNvSpPr/>
          <p:nvPr/>
        </p:nvSpPr>
        <p:spPr>
          <a:xfrm>
            <a:off x="868680" y="2761488"/>
            <a:ext cx="457200" cy="384048"/>
          </a:xfrm>
          <a:prstGeom prst="roundRect">
            <a:avLst>
              <a:gd name="adj" fmla="val 19048"/>
            </a:avLst>
          </a:prstGeom>
          <a:solidFill>
            <a:srgbClr val="E7EFE8"/>
          </a:solidFill>
          <a:ln w="12700">
            <a:solidFill>
              <a:srgbClr val="CFE0D3"/>
            </a:solidFill>
            <a:prstDash val="solid"/>
          </a:ln>
        </p:spPr>
        <p:txBody>
          <a:bodyPr/>
          <a:lstStyle/>
          <a:p>
            <a:endParaRPr lang="en-US"/>
          </a:p>
        </p:txBody>
      </p:sp>
      <p:sp>
        <p:nvSpPr>
          <p:cNvPr id="11" name="Text 9"/>
          <p:cNvSpPr/>
          <p:nvPr/>
        </p:nvSpPr>
        <p:spPr>
          <a:xfrm>
            <a:off x="932688" y="2857500"/>
            <a:ext cx="329184" cy="155448"/>
          </a:xfrm>
          <a:prstGeom prst="rect">
            <a:avLst/>
          </a:prstGeom>
          <a:noFill/>
          <a:ln/>
        </p:spPr>
        <p:txBody>
          <a:bodyPr wrap="square" lIns="0" tIns="0" rIns="0" bIns="0" rtlCol="0" anchor="ctr"/>
          <a:lstStyle/>
          <a:p>
            <a:pPr marL="0" indent="0" algn="ctr">
              <a:buNone/>
            </a:pPr>
            <a:r>
              <a:rPr lang="en-US" sz="950" b="1" dirty="0">
                <a:solidFill>
                  <a:srgbClr val="2E6A4D"/>
                </a:solidFill>
              </a:rPr>
              <a:t>02</a:t>
            </a:r>
            <a:endParaRPr lang="en-US" sz="950" dirty="0"/>
          </a:p>
        </p:txBody>
      </p:sp>
      <p:sp>
        <p:nvSpPr>
          <p:cNvPr id="12" name="Text 10"/>
          <p:cNvSpPr/>
          <p:nvPr/>
        </p:nvSpPr>
        <p:spPr>
          <a:xfrm>
            <a:off x="1508760" y="2756916"/>
            <a:ext cx="1874520" cy="210312"/>
          </a:xfrm>
          <a:prstGeom prst="rect">
            <a:avLst/>
          </a:prstGeom>
          <a:noFill/>
          <a:ln/>
        </p:spPr>
        <p:txBody>
          <a:bodyPr wrap="square" lIns="0" tIns="0" rIns="0" bIns="0" rtlCol="0" anchor="ctr"/>
          <a:lstStyle/>
          <a:p>
            <a:pPr marL="0" indent="0">
              <a:buNone/>
            </a:pPr>
            <a:r>
              <a:rPr lang="en-US" sz="1220" b="1" dirty="0">
                <a:solidFill>
                  <a:srgbClr val="163B2E"/>
                </a:solidFill>
              </a:rPr>
              <a:t>Classifier comparison</a:t>
            </a:r>
            <a:endParaRPr lang="en-US" sz="1220" dirty="0"/>
          </a:p>
        </p:txBody>
      </p:sp>
      <p:sp>
        <p:nvSpPr>
          <p:cNvPr id="13" name="Text 11"/>
          <p:cNvSpPr/>
          <p:nvPr/>
        </p:nvSpPr>
        <p:spPr>
          <a:xfrm>
            <a:off x="3456432" y="2756916"/>
            <a:ext cx="3337560" cy="393192"/>
          </a:xfrm>
          <a:prstGeom prst="rect">
            <a:avLst/>
          </a:prstGeom>
          <a:noFill/>
          <a:ln/>
        </p:spPr>
        <p:txBody>
          <a:bodyPr wrap="square" lIns="0" tIns="0" rIns="0" bIns="0" rtlCol="0" anchor="ctr">
            <a:normAutofit/>
          </a:bodyPr>
          <a:lstStyle/>
          <a:p>
            <a:pPr marL="0" indent="0">
              <a:buNone/>
            </a:pPr>
            <a:r>
              <a:rPr lang="en-US" sz="1040" dirty="0">
                <a:solidFill>
                  <a:srgbClr val="69756E"/>
                </a:solidFill>
              </a:rPr>
              <a:t>Logistic Regression, KNN, Linear/RBF SVM, Decision Tree, Random Forest.</a:t>
            </a:r>
            <a:endParaRPr lang="en-US" sz="1040" dirty="0"/>
          </a:p>
        </p:txBody>
      </p:sp>
      <p:sp>
        <p:nvSpPr>
          <p:cNvPr id="14" name="Shape 12"/>
          <p:cNvSpPr/>
          <p:nvPr/>
        </p:nvSpPr>
        <p:spPr>
          <a:xfrm>
            <a:off x="868680" y="3483864"/>
            <a:ext cx="457200" cy="384048"/>
          </a:xfrm>
          <a:prstGeom prst="roundRect">
            <a:avLst>
              <a:gd name="adj" fmla="val 19048"/>
            </a:avLst>
          </a:prstGeom>
          <a:solidFill>
            <a:srgbClr val="E7EFE8"/>
          </a:solidFill>
          <a:ln w="12700">
            <a:solidFill>
              <a:srgbClr val="CFE0D3"/>
            </a:solidFill>
            <a:prstDash val="solid"/>
          </a:ln>
        </p:spPr>
        <p:txBody>
          <a:bodyPr/>
          <a:lstStyle/>
          <a:p>
            <a:endParaRPr lang="en-US"/>
          </a:p>
        </p:txBody>
      </p:sp>
      <p:sp>
        <p:nvSpPr>
          <p:cNvPr id="15" name="Text 13"/>
          <p:cNvSpPr/>
          <p:nvPr/>
        </p:nvSpPr>
        <p:spPr>
          <a:xfrm>
            <a:off x="932688" y="3579876"/>
            <a:ext cx="329184" cy="155448"/>
          </a:xfrm>
          <a:prstGeom prst="rect">
            <a:avLst/>
          </a:prstGeom>
          <a:noFill/>
          <a:ln/>
        </p:spPr>
        <p:txBody>
          <a:bodyPr wrap="square" lIns="0" tIns="0" rIns="0" bIns="0" rtlCol="0" anchor="ctr"/>
          <a:lstStyle/>
          <a:p>
            <a:pPr marL="0" indent="0" algn="ctr">
              <a:buNone/>
            </a:pPr>
            <a:r>
              <a:rPr lang="en-US" sz="950" b="1" dirty="0">
                <a:solidFill>
                  <a:srgbClr val="2E6A4D"/>
                </a:solidFill>
              </a:rPr>
              <a:t>03</a:t>
            </a:r>
            <a:endParaRPr lang="en-US" sz="950" dirty="0"/>
          </a:p>
        </p:txBody>
      </p:sp>
      <p:sp>
        <p:nvSpPr>
          <p:cNvPr id="16" name="Text 14"/>
          <p:cNvSpPr/>
          <p:nvPr/>
        </p:nvSpPr>
        <p:spPr>
          <a:xfrm>
            <a:off x="1508760" y="3479292"/>
            <a:ext cx="1874520" cy="210312"/>
          </a:xfrm>
          <a:prstGeom prst="rect">
            <a:avLst/>
          </a:prstGeom>
          <a:noFill/>
          <a:ln/>
        </p:spPr>
        <p:txBody>
          <a:bodyPr wrap="square" lIns="0" tIns="0" rIns="0" bIns="0" rtlCol="0" anchor="ctr"/>
          <a:lstStyle/>
          <a:p>
            <a:pPr marL="0" indent="0">
              <a:buNone/>
            </a:pPr>
            <a:r>
              <a:rPr lang="en-US" sz="1220" b="1" dirty="0">
                <a:solidFill>
                  <a:srgbClr val="163B2E"/>
                </a:solidFill>
              </a:rPr>
              <a:t>Dimensionality reduction</a:t>
            </a:r>
            <a:endParaRPr lang="en-US" sz="1220" dirty="0"/>
          </a:p>
        </p:txBody>
      </p:sp>
      <p:sp>
        <p:nvSpPr>
          <p:cNvPr id="17" name="Text 15"/>
          <p:cNvSpPr/>
          <p:nvPr/>
        </p:nvSpPr>
        <p:spPr>
          <a:xfrm>
            <a:off x="3456432" y="3479292"/>
            <a:ext cx="3337560" cy="393192"/>
          </a:xfrm>
          <a:prstGeom prst="rect">
            <a:avLst/>
          </a:prstGeom>
          <a:noFill/>
          <a:ln/>
        </p:spPr>
        <p:txBody>
          <a:bodyPr wrap="square" lIns="0" tIns="0" rIns="0" bIns="0" rtlCol="0" anchor="ctr">
            <a:normAutofit/>
          </a:bodyPr>
          <a:lstStyle/>
          <a:p>
            <a:pPr marL="0" indent="0">
              <a:buNone/>
            </a:pPr>
            <a:r>
              <a:rPr lang="en-US" sz="1040" dirty="0">
                <a:solidFill>
                  <a:srgbClr val="69756E"/>
                </a:solidFill>
              </a:rPr>
              <a:t>Use PCA to trade feature count / runtime against predictive performance.</a:t>
            </a:r>
            <a:endParaRPr lang="en-US" sz="1040" dirty="0"/>
          </a:p>
        </p:txBody>
      </p:sp>
      <p:sp>
        <p:nvSpPr>
          <p:cNvPr id="18" name="Shape 16"/>
          <p:cNvSpPr/>
          <p:nvPr/>
        </p:nvSpPr>
        <p:spPr>
          <a:xfrm>
            <a:off x="868680" y="4206240"/>
            <a:ext cx="457200" cy="384048"/>
          </a:xfrm>
          <a:prstGeom prst="roundRect">
            <a:avLst>
              <a:gd name="adj" fmla="val 19048"/>
            </a:avLst>
          </a:prstGeom>
          <a:solidFill>
            <a:srgbClr val="E7EFE8"/>
          </a:solidFill>
          <a:ln w="12700">
            <a:solidFill>
              <a:srgbClr val="CFE0D3"/>
            </a:solidFill>
            <a:prstDash val="solid"/>
          </a:ln>
        </p:spPr>
        <p:txBody>
          <a:bodyPr/>
          <a:lstStyle/>
          <a:p>
            <a:endParaRPr lang="en-US"/>
          </a:p>
        </p:txBody>
      </p:sp>
      <p:sp>
        <p:nvSpPr>
          <p:cNvPr id="19" name="Text 17"/>
          <p:cNvSpPr/>
          <p:nvPr/>
        </p:nvSpPr>
        <p:spPr>
          <a:xfrm>
            <a:off x="932688" y="4302252"/>
            <a:ext cx="329184" cy="155448"/>
          </a:xfrm>
          <a:prstGeom prst="rect">
            <a:avLst/>
          </a:prstGeom>
          <a:noFill/>
          <a:ln/>
        </p:spPr>
        <p:txBody>
          <a:bodyPr wrap="square" lIns="0" tIns="0" rIns="0" bIns="0" rtlCol="0" anchor="ctr"/>
          <a:lstStyle/>
          <a:p>
            <a:pPr marL="0" indent="0" algn="ctr">
              <a:buNone/>
            </a:pPr>
            <a:r>
              <a:rPr lang="en-US" sz="950" b="1" dirty="0">
                <a:solidFill>
                  <a:srgbClr val="2E6A4D"/>
                </a:solidFill>
              </a:rPr>
              <a:t>04</a:t>
            </a:r>
            <a:endParaRPr lang="en-US" sz="950" dirty="0"/>
          </a:p>
        </p:txBody>
      </p:sp>
      <p:sp>
        <p:nvSpPr>
          <p:cNvPr id="20" name="Text 18"/>
          <p:cNvSpPr/>
          <p:nvPr/>
        </p:nvSpPr>
        <p:spPr>
          <a:xfrm>
            <a:off x="1508760" y="4201668"/>
            <a:ext cx="1874520" cy="210312"/>
          </a:xfrm>
          <a:prstGeom prst="rect">
            <a:avLst/>
          </a:prstGeom>
          <a:noFill/>
          <a:ln/>
        </p:spPr>
        <p:txBody>
          <a:bodyPr wrap="square" lIns="0" tIns="0" rIns="0" bIns="0" rtlCol="0" anchor="ctr"/>
          <a:lstStyle/>
          <a:p>
            <a:pPr marL="0" indent="0">
              <a:buNone/>
            </a:pPr>
            <a:r>
              <a:rPr lang="en-US" sz="1220" b="1" dirty="0">
                <a:solidFill>
                  <a:srgbClr val="163B2E"/>
                </a:solidFill>
              </a:rPr>
              <a:t>Class imbalance</a:t>
            </a:r>
            <a:endParaRPr lang="en-US" sz="1220" dirty="0"/>
          </a:p>
        </p:txBody>
      </p:sp>
      <p:sp>
        <p:nvSpPr>
          <p:cNvPr id="21" name="Text 19"/>
          <p:cNvSpPr/>
          <p:nvPr/>
        </p:nvSpPr>
        <p:spPr>
          <a:xfrm>
            <a:off x="3456432" y="4201668"/>
            <a:ext cx="3337560" cy="393192"/>
          </a:xfrm>
          <a:prstGeom prst="rect">
            <a:avLst/>
          </a:prstGeom>
          <a:noFill/>
          <a:ln/>
        </p:spPr>
        <p:txBody>
          <a:bodyPr wrap="square" lIns="0" tIns="0" rIns="0" bIns="0" rtlCol="0" anchor="ctr">
            <a:normAutofit/>
          </a:bodyPr>
          <a:lstStyle/>
          <a:p>
            <a:pPr marL="0" indent="0">
              <a:buNone/>
            </a:pPr>
            <a:r>
              <a:rPr lang="en-US" sz="1040" dirty="0">
                <a:solidFill>
                  <a:srgbClr val="69756E"/>
                </a:solidFill>
              </a:rPr>
              <a:t>Compare ordinary training with class-weighted methods and minority-class recall.</a:t>
            </a:r>
            <a:endParaRPr lang="en-US" sz="1040" dirty="0"/>
          </a:p>
        </p:txBody>
      </p:sp>
      <p:sp>
        <p:nvSpPr>
          <p:cNvPr id="22" name="Shape 20"/>
          <p:cNvSpPr/>
          <p:nvPr/>
        </p:nvSpPr>
        <p:spPr>
          <a:xfrm>
            <a:off x="868680" y="4928616"/>
            <a:ext cx="457200" cy="384048"/>
          </a:xfrm>
          <a:prstGeom prst="roundRect">
            <a:avLst>
              <a:gd name="adj" fmla="val 19048"/>
            </a:avLst>
          </a:prstGeom>
          <a:solidFill>
            <a:srgbClr val="F8E8E1"/>
          </a:solidFill>
          <a:ln w="12700">
            <a:solidFill>
              <a:srgbClr val="E6B8A7"/>
            </a:solidFill>
            <a:prstDash val="solid"/>
          </a:ln>
        </p:spPr>
        <p:txBody>
          <a:bodyPr/>
          <a:lstStyle/>
          <a:p>
            <a:endParaRPr lang="en-US"/>
          </a:p>
        </p:txBody>
      </p:sp>
      <p:sp>
        <p:nvSpPr>
          <p:cNvPr id="23" name="Text 21"/>
          <p:cNvSpPr/>
          <p:nvPr/>
        </p:nvSpPr>
        <p:spPr>
          <a:xfrm>
            <a:off x="932688" y="5024628"/>
            <a:ext cx="329184" cy="155448"/>
          </a:xfrm>
          <a:prstGeom prst="rect">
            <a:avLst/>
          </a:prstGeom>
          <a:noFill/>
          <a:ln/>
        </p:spPr>
        <p:txBody>
          <a:bodyPr wrap="square" lIns="0" tIns="0" rIns="0" bIns="0" rtlCol="0" anchor="ctr"/>
          <a:lstStyle/>
          <a:p>
            <a:pPr marL="0" indent="0" algn="ctr">
              <a:buNone/>
            </a:pPr>
            <a:r>
              <a:rPr lang="en-US" sz="950" b="1" dirty="0">
                <a:solidFill>
                  <a:srgbClr val="B96545"/>
                </a:solidFill>
              </a:rPr>
              <a:t>05</a:t>
            </a:r>
            <a:endParaRPr lang="en-US" sz="950" dirty="0"/>
          </a:p>
        </p:txBody>
      </p:sp>
      <p:sp>
        <p:nvSpPr>
          <p:cNvPr id="24" name="Text 22"/>
          <p:cNvSpPr/>
          <p:nvPr/>
        </p:nvSpPr>
        <p:spPr>
          <a:xfrm>
            <a:off x="1508760" y="4924044"/>
            <a:ext cx="1874520" cy="210312"/>
          </a:xfrm>
          <a:prstGeom prst="rect">
            <a:avLst/>
          </a:prstGeom>
          <a:noFill/>
          <a:ln/>
        </p:spPr>
        <p:txBody>
          <a:bodyPr wrap="square" lIns="0" tIns="0" rIns="0" bIns="0" rtlCol="0" anchor="ctr"/>
          <a:lstStyle/>
          <a:p>
            <a:pPr marL="0" indent="0">
              <a:buNone/>
            </a:pPr>
            <a:r>
              <a:rPr lang="en-US" sz="1220" b="1" dirty="0">
                <a:solidFill>
                  <a:srgbClr val="163B2E"/>
                </a:solidFill>
              </a:rPr>
              <a:t>Leakage sensitivity</a:t>
            </a:r>
            <a:endParaRPr lang="en-US" sz="1220" dirty="0"/>
          </a:p>
        </p:txBody>
      </p:sp>
      <p:sp>
        <p:nvSpPr>
          <p:cNvPr id="25" name="Text 23"/>
          <p:cNvSpPr/>
          <p:nvPr/>
        </p:nvSpPr>
        <p:spPr>
          <a:xfrm>
            <a:off x="3456432" y="4924044"/>
            <a:ext cx="3337560" cy="393192"/>
          </a:xfrm>
          <a:prstGeom prst="rect">
            <a:avLst/>
          </a:prstGeom>
          <a:noFill/>
          <a:ln/>
        </p:spPr>
        <p:txBody>
          <a:bodyPr wrap="square" lIns="0" tIns="0" rIns="0" bIns="0" rtlCol="0" anchor="ctr">
            <a:normAutofit/>
          </a:bodyPr>
          <a:lstStyle/>
          <a:p>
            <a:pPr marL="0" indent="0">
              <a:buNone/>
            </a:pPr>
            <a:r>
              <a:rPr lang="en-US" sz="1040" dirty="0">
                <a:solidFill>
                  <a:srgbClr val="69756E"/>
                </a:solidFill>
              </a:rPr>
              <a:t>Compare supplied split with a cleaned split that removes cross-split duplicates.</a:t>
            </a:r>
            <a:endParaRPr lang="en-US" sz="1040" dirty="0"/>
          </a:p>
        </p:txBody>
      </p:sp>
      <p:sp>
        <p:nvSpPr>
          <p:cNvPr id="26" name="Shape 24"/>
          <p:cNvSpPr/>
          <p:nvPr/>
        </p:nvSpPr>
        <p:spPr>
          <a:xfrm>
            <a:off x="7479792" y="1371600"/>
            <a:ext cx="4142232" cy="4681728"/>
          </a:xfrm>
          <a:prstGeom prst="roundRect">
            <a:avLst>
              <a:gd name="adj" fmla="val 2208"/>
            </a:avLst>
          </a:prstGeom>
          <a:solidFill>
            <a:srgbClr val="EFF3EE"/>
          </a:solidFill>
          <a:ln w="10160">
            <a:solidFill>
              <a:srgbClr val="D6E0D7"/>
            </a:solidFill>
            <a:prstDash val="solid"/>
          </a:ln>
        </p:spPr>
        <p:txBody>
          <a:bodyPr/>
          <a:lstStyle/>
          <a:p>
            <a:endParaRPr lang="en-US"/>
          </a:p>
        </p:txBody>
      </p:sp>
      <p:sp>
        <p:nvSpPr>
          <p:cNvPr id="27" name="Text 25"/>
          <p:cNvSpPr/>
          <p:nvPr/>
        </p:nvSpPr>
        <p:spPr>
          <a:xfrm>
            <a:off x="7772400" y="1664208"/>
            <a:ext cx="1828800" cy="201168"/>
          </a:xfrm>
          <a:prstGeom prst="rect">
            <a:avLst/>
          </a:prstGeom>
          <a:noFill/>
          <a:ln/>
        </p:spPr>
        <p:txBody>
          <a:bodyPr wrap="square" lIns="0" tIns="0" rIns="0" bIns="0" rtlCol="0" anchor="ctr"/>
          <a:lstStyle/>
          <a:p>
            <a:pPr marL="0" indent="0">
              <a:buNone/>
            </a:pPr>
            <a:r>
              <a:rPr lang="en-US" sz="1000" b="1" dirty="0">
                <a:solidFill>
                  <a:srgbClr val="D9A441"/>
                </a:solidFill>
              </a:rPr>
              <a:t>PRIMARY METRICS</a:t>
            </a:r>
            <a:endParaRPr lang="en-US" sz="1000" dirty="0"/>
          </a:p>
        </p:txBody>
      </p:sp>
      <p:sp>
        <p:nvSpPr>
          <p:cNvPr id="28" name="Shape 26"/>
          <p:cNvSpPr/>
          <p:nvPr/>
        </p:nvSpPr>
        <p:spPr>
          <a:xfrm>
            <a:off x="7772400" y="2066544"/>
            <a:ext cx="228600" cy="228600"/>
          </a:xfrm>
          <a:prstGeom prst="ellipse">
            <a:avLst/>
          </a:prstGeom>
          <a:solidFill>
            <a:srgbClr val="2E6A4D"/>
          </a:solidFill>
          <a:ln w="12700">
            <a:solidFill>
              <a:srgbClr val="2E6A4D"/>
            </a:solidFill>
            <a:prstDash val="solid"/>
          </a:ln>
        </p:spPr>
        <p:txBody>
          <a:bodyPr/>
          <a:lstStyle/>
          <a:p>
            <a:endParaRPr lang="en-US"/>
          </a:p>
        </p:txBody>
      </p:sp>
      <p:sp>
        <p:nvSpPr>
          <p:cNvPr id="29" name="Text 27"/>
          <p:cNvSpPr/>
          <p:nvPr/>
        </p:nvSpPr>
        <p:spPr>
          <a:xfrm>
            <a:off x="8138160" y="2048256"/>
            <a:ext cx="1234440" cy="182880"/>
          </a:xfrm>
          <a:prstGeom prst="rect">
            <a:avLst/>
          </a:prstGeom>
          <a:noFill/>
          <a:ln/>
        </p:spPr>
        <p:txBody>
          <a:bodyPr wrap="square" lIns="0" tIns="0" rIns="0" bIns="0" rtlCol="0" anchor="ctr"/>
          <a:lstStyle/>
          <a:p>
            <a:pPr marL="0" indent="0">
              <a:buNone/>
            </a:pPr>
            <a:r>
              <a:rPr lang="en-US" sz="1130" b="1" dirty="0">
                <a:solidFill>
                  <a:srgbClr val="163B2E"/>
                </a:solidFill>
              </a:rPr>
              <a:t>Accuracy</a:t>
            </a:r>
            <a:endParaRPr lang="en-US" sz="1130" dirty="0"/>
          </a:p>
        </p:txBody>
      </p:sp>
      <p:sp>
        <p:nvSpPr>
          <p:cNvPr id="30" name="Text 28"/>
          <p:cNvSpPr/>
          <p:nvPr/>
        </p:nvSpPr>
        <p:spPr>
          <a:xfrm>
            <a:off x="9372600" y="2048256"/>
            <a:ext cx="1810512" cy="310896"/>
          </a:xfrm>
          <a:prstGeom prst="rect">
            <a:avLst/>
          </a:prstGeom>
          <a:noFill/>
          <a:ln/>
        </p:spPr>
        <p:txBody>
          <a:bodyPr wrap="square" lIns="0" tIns="0" rIns="0" bIns="0" rtlCol="0" anchor="ctr">
            <a:normAutofit/>
          </a:bodyPr>
          <a:lstStyle/>
          <a:p>
            <a:pPr marL="0" indent="0">
              <a:buNone/>
            </a:pPr>
            <a:r>
              <a:rPr lang="en-US" sz="960" dirty="0">
                <a:solidFill>
                  <a:srgbClr val="69756E"/>
                </a:solidFill>
              </a:rPr>
              <a:t>overall correct predictions</a:t>
            </a:r>
            <a:endParaRPr lang="en-US" sz="960" dirty="0"/>
          </a:p>
        </p:txBody>
      </p:sp>
      <p:sp>
        <p:nvSpPr>
          <p:cNvPr id="31" name="Shape 29"/>
          <p:cNvSpPr/>
          <p:nvPr/>
        </p:nvSpPr>
        <p:spPr>
          <a:xfrm>
            <a:off x="7772400" y="2679192"/>
            <a:ext cx="228600" cy="228600"/>
          </a:xfrm>
          <a:prstGeom prst="ellipse">
            <a:avLst/>
          </a:prstGeom>
          <a:solidFill>
            <a:srgbClr val="D9A441"/>
          </a:solidFill>
          <a:ln w="12700">
            <a:solidFill>
              <a:srgbClr val="D9A441"/>
            </a:solidFill>
            <a:prstDash val="solid"/>
          </a:ln>
        </p:spPr>
        <p:txBody>
          <a:bodyPr/>
          <a:lstStyle/>
          <a:p>
            <a:endParaRPr lang="en-US"/>
          </a:p>
        </p:txBody>
      </p:sp>
      <p:sp>
        <p:nvSpPr>
          <p:cNvPr id="32" name="Text 30"/>
          <p:cNvSpPr/>
          <p:nvPr/>
        </p:nvSpPr>
        <p:spPr>
          <a:xfrm>
            <a:off x="8138160" y="2660904"/>
            <a:ext cx="1234440" cy="182880"/>
          </a:xfrm>
          <a:prstGeom prst="rect">
            <a:avLst/>
          </a:prstGeom>
          <a:noFill/>
          <a:ln/>
        </p:spPr>
        <p:txBody>
          <a:bodyPr wrap="square" lIns="0" tIns="0" rIns="0" bIns="0" rtlCol="0" anchor="ctr"/>
          <a:lstStyle/>
          <a:p>
            <a:pPr marL="0" indent="0">
              <a:buNone/>
            </a:pPr>
            <a:r>
              <a:rPr lang="en-US" sz="1130" b="1" dirty="0">
                <a:solidFill>
                  <a:srgbClr val="163B2E"/>
                </a:solidFill>
              </a:rPr>
              <a:t>Macro-F1</a:t>
            </a:r>
            <a:endParaRPr lang="en-US" sz="1130" dirty="0"/>
          </a:p>
        </p:txBody>
      </p:sp>
      <p:sp>
        <p:nvSpPr>
          <p:cNvPr id="33" name="Text 31"/>
          <p:cNvSpPr/>
          <p:nvPr/>
        </p:nvSpPr>
        <p:spPr>
          <a:xfrm>
            <a:off x="9372600" y="2660904"/>
            <a:ext cx="1810512" cy="310896"/>
          </a:xfrm>
          <a:prstGeom prst="rect">
            <a:avLst/>
          </a:prstGeom>
          <a:noFill/>
          <a:ln/>
        </p:spPr>
        <p:txBody>
          <a:bodyPr wrap="square" lIns="0" tIns="0" rIns="0" bIns="0" rtlCol="0" anchor="ctr">
            <a:normAutofit/>
          </a:bodyPr>
          <a:lstStyle/>
          <a:p>
            <a:pPr marL="0" indent="0">
              <a:buNone/>
            </a:pPr>
            <a:r>
              <a:rPr lang="en-US" sz="960" dirty="0">
                <a:solidFill>
                  <a:srgbClr val="69756E"/>
                </a:solidFill>
              </a:rPr>
              <a:t>treats each pest class equally</a:t>
            </a:r>
            <a:endParaRPr lang="en-US" sz="960" dirty="0"/>
          </a:p>
        </p:txBody>
      </p:sp>
      <p:sp>
        <p:nvSpPr>
          <p:cNvPr id="34" name="Shape 32"/>
          <p:cNvSpPr/>
          <p:nvPr/>
        </p:nvSpPr>
        <p:spPr>
          <a:xfrm>
            <a:off x="7772400" y="3291840"/>
            <a:ext cx="228600" cy="228600"/>
          </a:xfrm>
          <a:prstGeom prst="ellipse">
            <a:avLst/>
          </a:prstGeom>
          <a:solidFill>
            <a:srgbClr val="2E6A4D"/>
          </a:solidFill>
          <a:ln w="12700">
            <a:solidFill>
              <a:srgbClr val="2E6A4D"/>
            </a:solidFill>
            <a:prstDash val="solid"/>
          </a:ln>
        </p:spPr>
        <p:txBody>
          <a:bodyPr/>
          <a:lstStyle/>
          <a:p>
            <a:endParaRPr lang="en-US"/>
          </a:p>
        </p:txBody>
      </p:sp>
      <p:sp>
        <p:nvSpPr>
          <p:cNvPr id="35" name="Text 33"/>
          <p:cNvSpPr/>
          <p:nvPr/>
        </p:nvSpPr>
        <p:spPr>
          <a:xfrm>
            <a:off x="8138160" y="3273552"/>
            <a:ext cx="1234440" cy="182880"/>
          </a:xfrm>
          <a:prstGeom prst="rect">
            <a:avLst/>
          </a:prstGeom>
          <a:noFill/>
          <a:ln/>
        </p:spPr>
        <p:txBody>
          <a:bodyPr wrap="square" lIns="0" tIns="0" rIns="0" bIns="0" rtlCol="0" anchor="ctr"/>
          <a:lstStyle/>
          <a:p>
            <a:pPr marL="0" indent="0">
              <a:buNone/>
            </a:pPr>
            <a:r>
              <a:rPr lang="en-US" sz="1130" b="1" dirty="0">
                <a:solidFill>
                  <a:srgbClr val="163B2E"/>
                </a:solidFill>
              </a:rPr>
              <a:t>Per-class recall</a:t>
            </a:r>
            <a:endParaRPr lang="en-US" sz="1130" dirty="0"/>
          </a:p>
        </p:txBody>
      </p:sp>
      <p:sp>
        <p:nvSpPr>
          <p:cNvPr id="36" name="Text 34"/>
          <p:cNvSpPr/>
          <p:nvPr/>
        </p:nvSpPr>
        <p:spPr>
          <a:xfrm>
            <a:off x="9372600" y="3273552"/>
            <a:ext cx="1810512" cy="310896"/>
          </a:xfrm>
          <a:prstGeom prst="rect">
            <a:avLst/>
          </a:prstGeom>
          <a:noFill/>
          <a:ln/>
        </p:spPr>
        <p:txBody>
          <a:bodyPr wrap="square" lIns="0" tIns="0" rIns="0" bIns="0" rtlCol="0" anchor="ctr">
            <a:normAutofit/>
          </a:bodyPr>
          <a:lstStyle/>
          <a:p>
            <a:pPr marL="0" indent="0">
              <a:buNone/>
            </a:pPr>
            <a:r>
              <a:rPr lang="en-US" sz="960" dirty="0">
                <a:solidFill>
                  <a:srgbClr val="69756E"/>
                </a:solidFill>
              </a:rPr>
              <a:t>shows which pests are missed</a:t>
            </a:r>
            <a:endParaRPr lang="en-US" sz="960" dirty="0"/>
          </a:p>
        </p:txBody>
      </p:sp>
      <p:sp>
        <p:nvSpPr>
          <p:cNvPr id="37" name="Shape 35"/>
          <p:cNvSpPr/>
          <p:nvPr/>
        </p:nvSpPr>
        <p:spPr>
          <a:xfrm>
            <a:off x="7772400" y="3904488"/>
            <a:ext cx="228600" cy="228600"/>
          </a:xfrm>
          <a:prstGeom prst="ellipse">
            <a:avLst/>
          </a:prstGeom>
          <a:solidFill>
            <a:srgbClr val="2E6A4D"/>
          </a:solidFill>
          <a:ln w="12700">
            <a:solidFill>
              <a:srgbClr val="2E6A4D"/>
            </a:solidFill>
            <a:prstDash val="solid"/>
          </a:ln>
        </p:spPr>
        <p:txBody>
          <a:bodyPr/>
          <a:lstStyle/>
          <a:p>
            <a:endParaRPr lang="en-US"/>
          </a:p>
        </p:txBody>
      </p:sp>
      <p:sp>
        <p:nvSpPr>
          <p:cNvPr id="38" name="Text 36"/>
          <p:cNvSpPr/>
          <p:nvPr/>
        </p:nvSpPr>
        <p:spPr>
          <a:xfrm>
            <a:off x="8138160" y="3886200"/>
            <a:ext cx="1234440" cy="182880"/>
          </a:xfrm>
          <a:prstGeom prst="rect">
            <a:avLst/>
          </a:prstGeom>
          <a:noFill/>
          <a:ln/>
        </p:spPr>
        <p:txBody>
          <a:bodyPr wrap="square" lIns="0" tIns="0" rIns="0" bIns="0" rtlCol="0" anchor="ctr"/>
          <a:lstStyle/>
          <a:p>
            <a:pPr marL="0" indent="0">
              <a:buNone/>
            </a:pPr>
            <a:r>
              <a:rPr lang="en-US" sz="1130" b="1" dirty="0">
                <a:solidFill>
                  <a:srgbClr val="163B2E"/>
                </a:solidFill>
              </a:rPr>
              <a:t>Confusion matrix</a:t>
            </a:r>
            <a:endParaRPr lang="en-US" sz="1130" dirty="0"/>
          </a:p>
        </p:txBody>
      </p:sp>
      <p:sp>
        <p:nvSpPr>
          <p:cNvPr id="39" name="Text 37"/>
          <p:cNvSpPr/>
          <p:nvPr/>
        </p:nvSpPr>
        <p:spPr>
          <a:xfrm>
            <a:off x="9372600" y="3886200"/>
            <a:ext cx="1810512" cy="310896"/>
          </a:xfrm>
          <a:prstGeom prst="rect">
            <a:avLst/>
          </a:prstGeom>
          <a:noFill/>
          <a:ln/>
        </p:spPr>
        <p:txBody>
          <a:bodyPr wrap="square" lIns="0" tIns="0" rIns="0" bIns="0" rtlCol="0" anchor="ctr">
            <a:normAutofit/>
          </a:bodyPr>
          <a:lstStyle/>
          <a:p>
            <a:pPr marL="0" indent="0">
              <a:buNone/>
            </a:pPr>
            <a:r>
              <a:rPr lang="en-US" sz="960" dirty="0">
                <a:solidFill>
                  <a:srgbClr val="69756E"/>
                </a:solidFill>
              </a:rPr>
              <a:t>shows which species are confused</a:t>
            </a:r>
            <a:endParaRPr lang="en-US" sz="960" dirty="0"/>
          </a:p>
        </p:txBody>
      </p:sp>
      <p:sp>
        <p:nvSpPr>
          <p:cNvPr id="40" name="Shape 38"/>
          <p:cNvSpPr/>
          <p:nvPr/>
        </p:nvSpPr>
        <p:spPr>
          <a:xfrm>
            <a:off x="7772400" y="4517136"/>
            <a:ext cx="228600" cy="228600"/>
          </a:xfrm>
          <a:prstGeom prst="ellipse">
            <a:avLst/>
          </a:prstGeom>
          <a:solidFill>
            <a:srgbClr val="2E6A4D"/>
          </a:solidFill>
          <a:ln w="12700">
            <a:solidFill>
              <a:srgbClr val="2E6A4D"/>
            </a:solidFill>
            <a:prstDash val="solid"/>
          </a:ln>
        </p:spPr>
        <p:txBody>
          <a:bodyPr/>
          <a:lstStyle/>
          <a:p>
            <a:endParaRPr lang="en-US"/>
          </a:p>
        </p:txBody>
      </p:sp>
      <p:sp>
        <p:nvSpPr>
          <p:cNvPr id="41" name="Text 39"/>
          <p:cNvSpPr/>
          <p:nvPr/>
        </p:nvSpPr>
        <p:spPr>
          <a:xfrm>
            <a:off x="8138160" y="4498848"/>
            <a:ext cx="1234440" cy="182880"/>
          </a:xfrm>
          <a:prstGeom prst="rect">
            <a:avLst/>
          </a:prstGeom>
          <a:noFill/>
          <a:ln/>
        </p:spPr>
        <p:txBody>
          <a:bodyPr wrap="square" lIns="0" tIns="0" rIns="0" bIns="0" rtlCol="0" anchor="ctr"/>
          <a:lstStyle/>
          <a:p>
            <a:pPr marL="0" indent="0">
              <a:buNone/>
            </a:pPr>
            <a:r>
              <a:rPr lang="en-US" sz="1130" b="1" dirty="0">
                <a:solidFill>
                  <a:srgbClr val="163B2E"/>
                </a:solidFill>
              </a:rPr>
              <a:t>Runtime / feature size</a:t>
            </a:r>
            <a:endParaRPr lang="en-US" sz="1130" dirty="0"/>
          </a:p>
        </p:txBody>
      </p:sp>
      <p:sp>
        <p:nvSpPr>
          <p:cNvPr id="42" name="Text 40"/>
          <p:cNvSpPr/>
          <p:nvPr/>
        </p:nvSpPr>
        <p:spPr>
          <a:xfrm>
            <a:off x="9372600" y="4498848"/>
            <a:ext cx="1810512" cy="310896"/>
          </a:xfrm>
          <a:prstGeom prst="rect">
            <a:avLst/>
          </a:prstGeom>
          <a:noFill/>
          <a:ln/>
        </p:spPr>
        <p:txBody>
          <a:bodyPr wrap="square" lIns="0" tIns="0" rIns="0" bIns="0" rtlCol="0" anchor="ctr">
            <a:normAutofit/>
          </a:bodyPr>
          <a:lstStyle/>
          <a:p>
            <a:pPr marL="0" indent="0">
              <a:buNone/>
            </a:pPr>
            <a:r>
              <a:rPr lang="en-US" sz="960" dirty="0">
                <a:solidFill>
                  <a:srgbClr val="69756E"/>
                </a:solidFill>
              </a:rPr>
              <a:t>efficiency tradeoff</a:t>
            </a:r>
            <a:endParaRPr lang="en-US" sz="960" dirty="0"/>
          </a:p>
        </p:txBody>
      </p:sp>
      <p:sp>
        <p:nvSpPr>
          <p:cNvPr id="43" name="Shape 41"/>
          <p:cNvSpPr/>
          <p:nvPr/>
        </p:nvSpPr>
        <p:spPr>
          <a:xfrm>
            <a:off x="7754112" y="5285232"/>
            <a:ext cx="3474720" cy="502920"/>
          </a:xfrm>
          <a:prstGeom prst="roundRect">
            <a:avLst>
              <a:gd name="adj" fmla="val 14545"/>
            </a:avLst>
          </a:prstGeom>
          <a:solidFill>
            <a:srgbClr val="FFF7E6"/>
          </a:solidFill>
          <a:ln w="12700">
            <a:solidFill>
              <a:srgbClr val="E7C978"/>
            </a:solidFill>
            <a:prstDash val="solid"/>
          </a:ln>
        </p:spPr>
        <p:txBody>
          <a:bodyPr/>
          <a:lstStyle/>
          <a:p>
            <a:endParaRPr lang="en-US"/>
          </a:p>
        </p:txBody>
      </p:sp>
      <p:sp>
        <p:nvSpPr>
          <p:cNvPr id="44" name="Text 42"/>
          <p:cNvSpPr/>
          <p:nvPr/>
        </p:nvSpPr>
        <p:spPr>
          <a:xfrm>
            <a:off x="8001000" y="5440680"/>
            <a:ext cx="2971800" cy="182880"/>
          </a:xfrm>
          <a:prstGeom prst="rect">
            <a:avLst/>
          </a:prstGeom>
          <a:noFill/>
          <a:ln/>
        </p:spPr>
        <p:txBody>
          <a:bodyPr wrap="square" lIns="0" tIns="0" rIns="0" bIns="0" rtlCol="0" anchor="ctr"/>
          <a:lstStyle/>
          <a:p>
            <a:pPr marL="0" indent="0" algn="ctr">
              <a:buNone/>
            </a:pPr>
            <a:r>
              <a:rPr lang="en-US" sz="1150" b="1" dirty="0">
                <a:solidFill>
                  <a:srgbClr val="B96545"/>
                </a:solidFill>
              </a:rPr>
              <a:t>Primary success metric: Macro-F1</a:t>
            </a:r>
            <a:endParaRPr lang="en-US" sz="1150" dirty="0"/>
          </a:p>
        </p:txBody>
      </p:sp>
      <p:sp>
        <p:nvSpPr>
          <p:cNvPr id="45" name="Text 43"/>
          <p:cNvSpPr/>
          <p:nvPr/>
        </p:nvSpPr>
        <p:spPr>
          <a:xfrm>
            <a:off x="5943600" y="6583680"/>
            <a:ext cx="5212080" cy="164592"/>
          </a:xfrm>
          <a:prstGeom prst="rect">
            <a:avLst/>
          </a:prstGeom>
          <a:noFill/>
          <a:ln/>
        </p:spPr>
        <p:txBody>
          <a:bodyPr wrap="square" lIns="0" tIns="0" rIns="0" bIns="0" rtlCol="0" anchor="ctr">
            <a:normAutofit/>
          </a:bodyPr>
          <a:lstStyle/>
          <a:p>
            <a:pPr marL="0" indent="0" algn="r">
              <a:buNone/>
            </a:pPr>
            <a:r>
              <a:rPr lang="en-US" sz="740" i="1" dirty="0">
                <a:solidFill>
                  <a:srgbClr val="8A918C"/>
                </a:solidFill>
              </a:rPr>
              <a:t>Evaluation follows course guidance: precision, recall, accuracy, confusion matrix.</a:t>
            </a:r>
            <a:endParaRPr lang="en-US" sz="740" dirty="0"/>
          </a:p>
        </p:txBody>
      </p:sp>
      <p:sp>
        <p:nvSpPr>
          <p:cNvPr id="46" name="Slide Number Placeholder 0"/>
          <p:cNvSpPr>
            <a:spLocks noGrp="1"/>
          </p:cNvSpPr>
          <p:nvPr>
            <p:ph type="sldNum" sz="quarter" idx="4294967295"/>
          </p:nvPr>
        </p:nvSpPr>
        <p:spPr>
          <a:xfrm>
            <a:off x="11292840" y="6574536"/>
            <a:ext cx="41148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788078"/>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4114800" cy="228600"/>
          </a:xfrm>
          <a:prstGeom prst="rect">
            <a:avLst/>
          </a:prstGeom>
          <a:noFill/>
          <a:ln/>
        </p:spPr>
        <p:txBody>
          <a:bodyPr wrap="square" lIns="0" tIns="0" rIns="0" bIns="0" rtlCol="0" anchor="ctr"/>
          <a:lstStyle/>
          <a:p>
            <a:pPr marL="0" indent="0">
              <a:buNone/>
            </a:pPr>
            <a:r>
              <a:rPr lang="en-US" sz="1000" b="1" dirty="0">
                <a:solidFill>
                  <a:srgbClr val="D9A441"/>
                </a:solidFill>
              </a:rPr>
              <a:t>EXPECTED CONTRIBUTION &amp; PROJECT PLAN</a:t>
            </a:r>
            <a:endParaRPr lang="en-US" sz="1000" dirty="0"/>
          </a:p>
        </p:txBody>
      </p:sp>
      <p:sp>
        <p:nvSpPr>
          <p:cNvPr id="3" name="Text 1"/>
          <p:cNvSpPr/>
          <p:nvPr/>
        </p:nvSpPr>
        <p:spPr>
          <a:xfrm>
            <a:off x="502920" y="566928"/>
            <a:ext cx="11064240" cy="566928"/>
          </a:xfrm>
          <a:prstGeom prst="rect">
            <a:avLst/>
          </a:prstGeom>
          <a:noFill/>
          <a:ln/>
        </p:spPr>
        <p:txBody>
          <a:bodyPr wrap="square" lIns="0" tIns="0" rIns="0" bIns="0" rtlCol="0" anchor="ctr">
            <a:normAutofit/>
          </a:bodyPr>
          <a:lstStyle/>
          <a:p>
            <a:pPr marL="0" indent="0">
              <a:buNone/>
            </a:pPr>
            <a:r>
              <a:rPr lang="en-US" sz="2700" b="1" dirty="0">
                <a:solidFill>
                  <a:srgbClr val="163B2E"/>
                </a:solidFill>
              </a:rPr>
              <a:t>What we expect to contribute by the final presentation</a:t>
            </a:r>
            <a:endParaRPr lang="en-US" sz="2700" dirty="0"/>
          </a:p>
        </p:txBody>
      </p:sp>
      <p:sp>
        <p:nvSpPr>
          <p:cNvPr id="4" name="Shape 2"/>
          <p:cNvSpPr/>
          <p:nvPr/>
        </p:nvSpPr>
        <p:spPr>
          <a:xfrm>
            <a:off x="594360" y="1444752"/>
            <a:ext cx="3182112" cy="1572768"/>
          </a:xfrm>
          <a:prstGeom prst="roundRect">
            <a:avLst>
              <a:gd name="adj" fmla="val 5814"/>
            </a:avLst>
          </a:prstGeom>
          <a:solidFill>
            <a:srgbClr val="E7EFE8"/>
          </a:solidFill>
          <a:ln w="12700">
            <a:solidFill>
              <a:srgbClr val="2E6A4D"/>
            </a:solidFill>
            <a:prstDash val="solid"/>
          </a:ln>
        </p:spPr>
        <p:txBody>
          <a:bodyPr/>
          <a:lstStyle/>
          <a:p>
            <a:endParaRPr lang="en-US"/>
          </a:p>
        </p:txBody>
      </p:sp>
      <p:sp>
        <p:nvSpPr>
          <p:cNvPr id="5" name="Text 3"/>
          <p:cNvSpPr/>
          <p:nvPr/>
        </p:nvSpPr>
        <p:spPr>
          <a:xfrm>
            <a:off x="795528" y="1709928"/>
            <a:ext cx="2743200" cy="219456"/>
          </a:xfrm>
          <a:prstGeom prst="rect">
            <a:avLst/>
          </a:prstGeom>
          <a:noFill/>
          <a:ln/>
        </p:spPr>
        <p:txBody>
          <a:bodyPr wrap="square" lIns="0" tIns="0" rIns="0" bIns="0" rtlCol="0" anchor="ctr"/>
          <a:lstStyle/>
          <a:p>
            <a:pPr marL="0" indent="0" algn="ctr">
              <a:buNone/>
            </a:pPr>
            <a:r>
              <a:rPr lang="en-US" sz="1050" b="1" dirty="0">
                <a:solidFill>
                  <a:srgbClr val="2E6A4D"/>
                </a:solidFill>
              </a:rPr>
              <a:t>1  NON-NEURAL BENCHMARK</a:t>
            </a:r>
            <a:endParaRPr lang="en-US" sz="1050" dirty="0"/>
          </a:p>
        </p:txBody>
      </p:sp>
      <p:sp>
        <p:nvSpPr>
          <p:cNvPr id="6" name="Text 4"/>
          <p:cNvSpPr/>
          <p:nvPr/>
        </p:nvSpPr>
        <p:spPr>
          <a:xfrm>
            <a:off x="868680" y="2057400"/>
            <a:ext cx="2633472" cy="640080"/>
          </a:xfrm>
          <a:prstGeom prst="rect">
            <a:avLst/>
          </a:prstGeom>
          <a:noFill/>
          <a:ln/>
        </p:spPr>
        <p:txBody>
          <a:bodyPr wrap="square" lIns="0" tIns="0" rIns="0" bIns="0" rtlCol="0" anchor="ctr">
            <a:normAutofit/>
          </a:bodyPr>
          <a:lstStyle/>
          <a:p>
            <a:pPr marL="0" indent="0" algn="ctr">
              <a:buNone/>
            </a:pPr>
            <a:r>
              <a:rPr lang="en-US" sz="1320" b="1" dirty="0">
                <a:solidFill>
                  <a:srgbClr val="163B2E"/>
                </a:solidFill>
              </a:rPr>
              <a:t>A reproducible baseline for 17-class jute-pest classification using only classical ML.</a:t>
            </a:r>
            <a:endParaRPr lang="en-US" sz="1320" dirty="0"/>
          </a:p>
        </p:txBody>
      </p:sp>
      <p:sp>
        <p:nvSpPr>
          <p:cNvPr id="7" name="Shape 5"/>
          <p:cNvSpPr/>
          <p:nvPr/>
        </p:nvSpPr>
        <p:spPr>
          <a:xfrm>
            <a:off x="4096512" y="1444752"/>
            <a:ext cx="3182112" cy="1572768"/>
          </a:xfrm>
          <a:prstGeom prst="roundRect">
            <a:avLst>
              <a:gd name="adj" fmla="val 5814"/>
            </a:avLst>
          </a:prstGeom>
          <a:solidFill>
            <a:srgbClr val="F4EAD1"/>
          </a:solidFill>
          <a:ln w="12700">
            <a:solidFill>
              <a:srgbClr val="D9A441"/>
            </a:solidFill>
            <a:prstDash val="solid"/>
          </a:ln>
        </p:spPr>
        <p:txBody>
          <a:bodyPr/>
          <a:lstStyle/>
          <a:p>
            <a:endParaRPr lang="en-US"/>
          </a:p>
        </p:txBody>
      </p:sp>
      <p:sp>
        <p:nvSpPr>
          <p:cNvPr id="8" name="Text 6"/>
          <p:cNvSpPr/>
          <p:nvPr/>
        </p:nvSpPr>
        <p:spPr>
          <a:xfrm>
            <a:off x="4297680" y="1709928"/>
            <a:ext cx="2743200" cy="219456"/>
          </a:xfrm>
          <a:prstGeom prst="rect">
            <a:avLst/>
          </a:prstGeom>
          <a:noFill/>
          <a:ln/>
        </p:spPr>
        <p:txBody>
          <a:bodyPr wrap="square" lIns="0" tIns="0" rIns="0" bIns="0" rtlCol="0" anchor="ctr"/>
          <a:lstStyle/>
          <a:p>
            <a:pPr marL="0" indent="0" algn="ctr">
              <a:buNone/>
            </a:pPr>
            <a:r>
              <a:rPr lang="en-US" sz="1050" b="1" dirty="0">
                <a:solidFill>
                  <a:srgbClr val="D9A441"/>
                </a:solidFill>
              </a:rPr>
              <a:t>2  FEATURE INSIGHT</a:t>
            </a:r>
            <a:endParaRPr lang="en-US" sz="1050" dirty="0"/>
          </a:p>
        </p:txBody>
      </p:sp>
      <p:sp>
        <p:nvSpPr>
          <p:cNvPr id="9" name="Text 7"/>
          <p:cNvSpPr/>
          <p:nvPr/>
        </p:nvSpPr>
        <p:spPr>
          <a:xfrm>
            <a:off x="4370832" y="2057400"/>
            <a:ext cx="2633472" cy="640080"/>
          </a:xfrm>
          <a:prstGeom prst="rect">
            <a:avLst/>
          </a:prstGeom>
          <a:noFill/>
          <a:ln/>
        </p:spPr>
        <p:txBody>
          <a:bodyPr wrap="square" lIns="0" tIns="0" rIns="0" bIns="0" rtlCol="0" anchor="ctr">
            <a:normAutofit/>
          </a:bodyPr>
          <a:lstStyle/>
          <a:p>
            <a:pPr marL="0" indent="0" algn="ctr">
              <a:buNone/>
            </a:pPr>
            <a:r>
              <a:rPr lang="en-US" sz="1320" b="1" dirty="0">
                <a:solidFill>
                  <a:srgbClr val="163B2E"/>
                </a:solidFill>
              </a:rPr>
              <a:t>Evidence about whether shape, color, texture, or combinations carry the most useful signal.</a:t>
            </a:r>
            <a:endParaRPr lang="en-US" sz="1320" dirty="0"/>
          </a:p>
        </p:txBody>
      </p:sp>
      <p:sp>
        <p:nvSpPr>
          <p:cNvPr id="10" name="Shape 8"/>
          <p:cNvSpPr/>
          <p:nvPr/>
        </p:nvSpPr>
        <p:spPr>
          <a:xfrm>
            <a:off x="7598664" y="1444752"/>
            <a:ext cx="3182112" cy="1572768"/>
          </a:xfrm>
          <a:prstGeom prst="roundRect">
            <a:avLst>
              <a:gd name="adj" fmla="val 5814"/>
            </a:avLst>
          </a:prstGeom>
          <a:solidFill>
            <a:srgbClr val="F8E8E1"/>
          </a:solidFill>
          <a:ln w="12700">
            <a:solidFill>
              <a:srgbClr val="B96545"/>
            </a:solidFill>
            <a:prstDash val="solid"/>
          </a:ln>
        </p:spPr>
        <p:txBody>
          <a:bodyPr/>
          <a:lstStyle/>
          <a:p>
            <a:endParaRPr lang="en-US"/>
          </a:p>
        </p:txBody>
      </p:sp>
      <p:sp>
        <p:nvSpPr>
          <p:cNvPr id="11" name="Text 9"/>
          <p:cNvSpPr/>
          <p:nvPr/>
        </p:nvSpPr>
        <p:spPr>
          <a:xfrm>
            <a:off x="7799832" y="1709928"/>
            <a:ext cx="2743200" cy="219456"/>
          </a:xfrm>
          <a:prstGeom prst="rect">
            <a:avLst/>
          </a:prstGeom>
          <a:noFill/>
          <a:ln/>
        </p:spPr>
        <p:txBody>
          <a:bodyPr wrap="square" lIns="0" tIns="0" rIns="0" bIns="0" rtlCol="0" anchor="ctr"/>
          <a:lstStyle/>
          <a:p>
            <a:pPr marL="0" indent="0" algn="ctr">
              <a:buNone/>
            </a:pPr>
            <a:r>
              <a:rPr lang="en-US" sz="1050" b="1" dirty="0">
                <a:solidFill>
                  <a:srgbClr val="B96545"/>
                </a:solidFill>
              </a:rPr>
              <a:t>3  TRUSTWORTHY EVALUATION</a:t>
            </a:r>
            <a:endParaRPr lang="en-US" sz="1050" dirty="0"/>
          </a:p>
        </p:txBody>
      </p:sp>
      <p:sp>
        <p:nvSpPr>
          <p:cNvPr id="12" name="Text 10"/>
          <p:cNvSpPr/>
          <p:nvPr/>
        </p:nvSpPr>
        <p:spPr>
          <a:xfrm>
            <a:off x="7872984" y="2057400"/>
            <a:ext cx="2633472" cy="640080"/>
          </a:xfrm>
          <a:prstGeom prst="rect">
            <a:avLst/>
          </a:prstGeom>
          <a:noFill/>
          <a:ln/>
        </p:spPr>
        <p:txBody>
          <a:bodyPr wrap="square" lIns="0" tIns="0" rIns="0" bIns="0" rtlCol="0" anchor="ctr">
            <a:normAutofit fontScale="92500" lnSpcReduction="20000"/>
          </a:bodyPr>
          <a:lstStyle/>
          <a:p>
            <a:pPr marL="0" indent="0" algn="ctr">
              <a:buNone/>
            </a:pPr>
            <a:r>
              <a:rPr lang="en-US" sz="1320" b="1" dirty="0">
                <a:solidFill>
                  <a:srgbClr val="163B2E"/>
                </a:solidFill>
              </a:rPr>
              <a:t>Quantify how imbalance and duplicate leakage change the measured generalization performance.</a:t>
            </a:r>
            <a:endParaRPr lang="en-US" sz="1320" dirty="0"/>
          </a:p>
        </p:txBody>
      </p:sp>
      <p:sp>
        <p:nvSpPr>
          <p:cNvPr id="13" name="Text 11"/>
          <p:cNvSpPr/>
          <p:nvPr/>
        </p:nvSpPr>
        <p:spPr>
          <a:xfrm>
            <a:off x="658368" y="3474720"/>
            <a:ext cx="1371600" cy="201168"/>
          </a:xfrm>
          <a:prstGeom prst="rect">
            <a:avLst/>
          </a:prstGeom>
          <a:noFill/>
          <a:ln/>
        </p:spPr>
        <p:txBody>
          <a:bodyPr wrap="square" lIns="0" tIns="0" rIns="0" bIns="0" rtlCol="0" anchor="ctr"/>
          <a:lstStyle/>
          <a:p>
            <a:pPr marL="0" indent="0">
              <a:buNone/>
            </a:pPr>
            <a:r>
              <a:rPr lang="en-US" sz="1000" b="1" dirty="0">
                <a:solidFill>
                  <a:srgbClr val="D9A441"/>
                </a:solidFill>
              </a:rPr>
              <a:t>WORK PLAN</a:t>
            </a:r>
            <a:endParaRPr lang="en-US" sz="1000" dirty="0"/>
          </a:p>
        </p:txBody>
      </p:sp>
      <p:sp>
        <p:nvSpPr>
          <p:cNvPr id="14" name="Shape 12"/>
          <p:cNvSpPr/>
          <p:nvPr/>
        </p:nvSpPr>
        <p:spPr>
          <a:xfrm>
            <a:off x="1673352" y="4187952"/>
            <a:ext cx="1207008" cy="0"/>
          </a:xfrm>
          <a:prstGeom prst="line">
            <a:avLst/>
          </a:prstGeom>
          <a:noFill/>
          <a:ln w="19050">
            <a:solidFill>
              <a:srgbClr val="B8BDB8"/>
            </a:solidFill>
            <a:prstDash val="solid"/>
          </a:ln>
        </p:spPr>
        <p:txBody>
          <a:bodyPr/>
          <a:lstStyle/>
          <a:p>
            <a:endParaRPr lang="en-US"/>
          </a:p>
        </p:txBody>
      </p:sp>
      <p:sp>
        <p:nvSpPr>
          <p:cNvPr id="15" name="Shape 13"/>
          <p:cNvSpPr/>
          <p:nvPr/>
        </p:nvSpPr>
        <p:spPr>
          <a:xfrm>
            <a:off x="713232" y="3886200"/>
            <a:ext cx="621792" cy="621792"/>
          </a:xfrm>
          <a:prstGeom prst="ellipse">
            <a:avLst/>
          </a:prstGeom>
          <a:solidFill>
            <a:srgbClr val="2E6A4D"/>
          </a:solidFill>
          <a:ln w="12700">
            <a:solidFill>
              <a:srgbClr val="2E6A4D"/>
            </a:solidFill>
            <a:prstDash val="solid"/>
          </a:ln>
        </p:spPr>
        <p:txBody>
          <a:bodyPr/>
          <a:lstStyle/>
          <a:p>
            <a:endParaRPr lang="en-US"/>
          </a:p>
        </p:txBody>
      </p:sp>
      <p:sp>
        <p:nvSpPr>
          <p:cNvPr id="16" name="Text 14"/>
          <p:cNvSpPr/>
          <p:nvPr/>
        </p:nvSpPr>
        <p:spPr>
          <a:xfrm>
            <a:off x="749808" y="4087368"/>
            <a:ext cx="548640" cy="146304"/>
          </a:xfrm>
          <a:prstGeom prst="rect">
            <a:avLst/>
          </a:prstGeom>
          <a:noFill/>
          <a:ln/>
        </p:spPr>
        <p:txBody>
          <a:bodyPr wrap="square" lIns="0" tIns="0" rIns="0" bIns="0" rtlCol="0" anchor="ctr"/>
          <a:lstStyle/>
          <a:p>
            <a:pPr marL="0" indent="0" algn="ctr">
              <a:buNone/>
            </a:pPr>
            <a:r>
              <a:rPr lang="en-US" sz="950" b="1" dirty="0">
                <a:solidFill>
                  <a:srgbClr val="FFFFFF"/>
                </a:solidFill>
              </a:rPr>
              <a:t>01</a:t>
            </a:r>
            <a:endParaRPr lang="en-US" sz="950" dirty="0"/>
          </a:p>
        </p:txBody>
      </p:sp>
      <p:sp>
        <p:nvSpPr>
          <p:cNvPr id="17" name="Text 15"/>
          <p:cNvSpPr/>
          <p:nvPr/>
        </p:nvSpPr>
        <p:spPr>
          <a:xfrm>
            <a:off x="621792" y="4608576"/>
            <a:ext cx="1600200" cy="201168"/>
          </a:xfrm>
          <a:prstGeom prst="rect">
            <a:avLst/>
          </a:prstGeom>
          <a:noFill/>
          <a:ln/>
        </p:spPr>
        <p:txBody>
          <a:bodyPr wrap="square" lIns="0" tIns="0" rIns="0" bIns="0" rtlCol="0" anchor="ctr"/>
          <a:lstStyle/>
          <a:p>
            <a:pPr marL="0" indent="0" algn="ctr">
              <a:buNone/>
            </a:pPr>
            <a:r>
              <a:rPr lang="en-US" sz="1150" b="1" dirty="0">
                <a:solidFill>
                  <a:srgbClr val="163B2E"/>
                </a:solidFill>
              </a:rPr>
              <a:t>Audit &amp; clean</a:t>
            </a:r>
            <a:endParaRPr lang="en-US" sz="1150" dirty="0"/>
          </a:p>
        </p:txBody>
      </p:sp>
      <p:sp>
        <p:nvSpPr>
          <p:cNvPr id="18" name="Text 16"/>
          <p:cNvSpPr/>
          <p:nvPr/>
        </p:nvSpPr>
        <p:spPr>
          <a:xfrm>
            <a:off x="548640" y="4882896"/>
            <a:ext cx="1783080" cy="438912"/>
          </a:xfrm>
          <a:prstGeom prst="rect">
            <a:avLst/>
          </a:prstGeom>
          <a:noFill/>
          <a:ln/>
        </p:spPr>
        <p:txBody>
          <a:bodyPr wrap="square" lIns="0" tIns="0" rIns="0" bIns="0" rtlCol="0" anchor="ctr">
            <a:normAutofit/>
          </a:bodyPr>
          <a:lstStyle/>
          <a:p>
            <a:pPr marL="0" indent="0" algn="ctr">
              <a:buNone/>
            </a:pPr>
            <a:r>
              <a:rPr lang="en-US" sz="920" dirty="0">
                <a:solidFill>
                  <a:srgbClr val="69756E"/>
                </a:solidFill>
              </a:rPr>
              <a:t>duplicates, class counts, image sizes</a:t>
            </a:r>
            <a:endParaRPr lang="en-US" sz="920" dirty="0"/>
          </a:p>
        </p:txBody>
      </p:sp>
      <p:sp>
        <p:nvSpPr>
          <p:cNvPr id="19" name="Shape 17"/>
          <p:cNvSpPr/>
          <p:nvPr/>
        </p:nvSpPr>
        <p:spPr>
          <a:xfrm>
            <a:off x="3840480" y="4187952"/>
            <a:ext cx="1207008" cy="0"/>
          </a:xfrm>
          <a:prstGeom prst="line">
            <a:avLst/>
          </a:prstGeom>
          <a:noFill/>
          <a:ln w="19050">
            <a:solidFill>
              <a:srgbClr val="B8BDB8"/>
            </a:solidFill>
            <a:prstDash val="solid"/>
          </a:ln>
        </p:spPr>
        <p:txBody>
          <a:bodyPr/>
          <a:lstStyle/>
          <a:p>
            <a:endParaRPr lang="en-US"/>
          </a:p>
        </p:txBody>
      </p:sp>
      <p:sp>
        <p:nvSpPr>
          <p:cNvPr id="20" name="Shape 18"/>
          <p:cNvSpPr/>
          <p:nvPr/>
        </p:nvSpPr>
        <p:spPr>
          <a:xfrm>
            <a:off x="2880360" y="3886200"/>
            <a:ext cx="621792" cy="621792"/>
          </a:xfrm>
          <a:prstGeom prst="ellipse">
            <a:avLst/>
          </a:prstGeom>
          <a:solidFill>
            <a:srgbClr val="2E6A4D"/>
          </a:solidFill>
          <a:ln w="12700">
            <a:solidFill>
              <a:srgbClr val="2E6A4D"/>
            </a:solidFill>
            <a:prstDash val="solid"/>
          </a:ln>
        </p:spPr>
        <p:txBody>
          <a:bodyPr/>
          <a:lstStyle/>
          <a:p>
            <a:endParaRPr lang="en-US"/>
          </a:p>
        </p:txBody>
      </p:sp>
      <p:sp>
        <p:nvSpPr>
          <p:cNvPr id="21" name="Text 19"/>
          <p:cNvSpPr/>
          <p:nvPr/>
        </p:nvSpPr>
        <p:spPr>
          <a:xfrm>
            <a:off x="2916936" y="4087368"/>
            <a:ext cx="548640" cy="146304"/>
          </a:xfrm>
          <a:prstGeom prst="rect">
            <a:avLst/>
          </a:prstGeom>
          <a:noFill/>
          <a:ln/>
        </p:spPr>
        <p:txBody>
          <a:bodyPr wrap="square" lIns="0" tIns="0" rIns="0" bIns="0" rtlCol="0" anchor="ctr"/>
          <a:lstStyle/>
          <a:p>
            <a:pPr marL="0" indent="0" algn="ctr">
              <a:buNone/>
            </a:pPr>
            <a:r>
              <a:rPr lang="en-US" sz="950" b="1" dirty="0">
                <a:solidFill>
                  <a:srgbClr val="FFFFFF"/>
                </a:solidFill>
              </a:rPr>
              <a:t>02</a:t>
            </a:r>
            <a:endParaRPr lang="en-US" sz="950" dirty="0"/>
          </a:p>
        </p:txBody>
      </p:sp>
      <p:sp>
        <p:nvSpPr>
          <p:cNvPr id="22" name="Text 20"/>
          <p:cNvSpPr/>
          <p:nvPr/>
        </p:nvSpPr>
        <p:spPr>
          <a:xfrm>
            <a:off x="2788920" y="4608576"/>
            <a:ext cx="1600200" cy="201168"/>
          </a:xfrm>
          <a:prstGeom prst="rect">
            <a:avLst/>
          </a:prstGeom>
          <a:noFill/>
          <a:ln/>
        </p:spPr>
        <p:txBody>
          <a:bodyPr wrap="square" lIns="0" tIns="0" rIns="0" bIns="0" rtlCol="0" anchor="ctr"/>
          <a:lstStyle/>
          <a:p>
            <a:pPr marL="0" indent="0" algn="ctr">
              <a:buNone/>
            </a:pPr>
            <a:r>
              <a:rPr lang="en-US" sz="1150" b="1" dirty="0">
                <a:solidFill>
                  <a:srgbClr val="163B2E"/>
                </a:solidFill>
              </a:rPr>
              <a:t>Extract features</a:t>
            </a:r>
            <a:endParaRPr lang="en-US" sz="1150" dirty="0"/>
          </a:p>
        </p:txBody>
      </p:sp>
      <p:sp>
        <p:nvSpPr>
          <p:cNvPr id="23" name="Text 21"/>
          <p:cNvSpPr/>
          <p:nvPr/>
        </p:nvSpPr>
        <p:spPr>
          <a:xfrm>
            <a:off x="2715768" y="4882896"/>
            <a:ext cx="1783080" cy="438912"/>
          </a:xfrm>
          <a:prstGeom prst="rect">
            <a:avLst/>
          </a:prstGeom>
          <a:noFill/>
          <a:ln/>
        </p:spPr>
        <p:txBody>
          <a:bodyPr wrap="square" lIns="0" tIns="0" rIns="0" bIns="0" rtlCol="0" anchor="ctr">
            <a:normAutofit/>
          </a:bodyPr>
          <a:lstStyle/>
          <a:p>
            <a:pPr marL="0" indent="0" algn="ctr">
              <a:buNone/>
            </a:pPr>
            <a:r>
              <a:rPr lang="en-US" sz="920" dirty="0">
                <a:solidFill>
                  <a:srgbClr val="69756E"/>
                </a:solidFill>
              </a:rPr>
              <a:t>HOG, HSV, LBP + scaling</a:t>
            </a:r>
            <a:endParaRPr lang="en-US" sz="920" dirty="0"/>
          </a:p>
        </p:txBody>
      </p:sp>
      <p:sp>
        <p:nvSpPr>
          <p:cNvPr id="24" name="Shape 22"/>
          <p:cNvSpPr/>
          <p:nvPr/>
        </p:nvSpPr>
        <p:spPr>
          <a:xfrm>
            <a:off x="6007608" y="4187952"/>
            <a:ext cx="1207008" cy="0"/>
          </a:xfrm>
          <a:prstGeom prst="line">
            <a:avLst/>
          </a:prstGeom>
          <a:noFill/>
          <a:ln w="19050">
            <a:solidFill>
              <a:srgbClr val="B8BDB8"/>
            </a:solidFill>
            <a:prstDash val="solid"/>
          </a:ln>
        </p:spPr>
        <p:txBody>
          <a:bodyPr/>
          <a:lstStyle/>
          <a:p>
            <a:endParaRPr lang="en-US"/>
          </a:p>
        </p:txBody>
      </p:sp>
      <p:sp>
        <p:nvSpPr>
          <p:cNvPr id="25" name="Shape 23"/>
          <p:cNvSpPr/>
          <p:nvPr/>
        </p:nvSpPr>
        <p:spPr>
          <a:xfrm>
            <a:off x="5047488" y="3886200"/>
            <a:ext cx="621792" cy="621792"/>
          </a:xfrm>
          <a:prstGeom prst="ellipse">
            <a:avLst/>
          </a:prstGeom>
          <a:solidFill>
            <a:srgbClr val="8A948E"/>
          </a:solidFill>
          <a:ln w="12700">
            <a:solidFill>
              <a:srgbClr val="8A948E"/>
            </a:solidFill>
            <a:prstDash val="solid"/>
          </a:ln>
        </p:spPr>
        <p:txBody>
          <a:bodyPr/>
          <a:lstStyle/>
          <a:p>
            <a:endParaRPr lang="en-US"/>
          </a:p>
        </p:txBody>
      </p:sp>
      <p:sp>
        <p:nvSpPr>
          <p:cNvPr id="26" name="Text 24"/>
          <p:cNvSpPr/>
          <p:nvPr/>
        </p:nvSpPr>
        <p:spPr>
          <a:xfrm>
            <a:off x="5084064" y="4087368"/>
            <a:ext cx="548640" cy="146304"/>
          </a:xfrm>
          <a:prstGeom prst="rect">
            <a:avLst/>
          </a:prstGeom>
          <a:noFill/>
          <a:ln/>
        </p:spPr>
        <p:txBody>
          <a:bodyPr wrap="square" lIns="0" tIns="0" rIns="0" bIns="0" rtlCol="0" anchor="ctr"/>
          <a:lstStyle/>
          <a:p>
            <a:pPr marL="0" indent="0" algn="ctr">
              <a:buNone/>
            </a:pPr>
            <a:r>
              <a:rPr lang="en-US" sz="950" b="1" dirty="0">
                <a:solidFill>
                  <a:srgbClr val="FFFFFF"/>
                </a:solidFill>
              </a:rPr>
              <a:t>03</a:t>
            </a:r>
            <a:endParaRPr lang="en-US" sz="950" dirty="0"/>
          </a:p>
        </p:txBody>
      </p:sp>
      <p:sp>
        <p:nvSpPr>
          <p:cNvPr id="27" name="Text 25"/>
          <p:cNvSpPr/>
          <p:nvPr/>
        </p:nvSpPr>
        <p:spPr>
          <a:xfrm>
            <a:off x="4956048" y="4608576"/>
            <a:ext cx="1600200" cy="201168"/>
          </a:xfrm>
          <a:prstGeom prst="rect">
            <a:avLst/>
          </a:prstGeom>
          <a:noFill/>
          <a:ln/>
        </p:spPr>
        <p:txBody>
          <a:bodyPr wrap="square" lIns="0" tIns="0" rIns="0" bIns="0" rtlCol="0" anchor="ctr"/>
          <a:lstStyle/>
          <a:p>
            <a:pPr marL="0" indent="0" algn="ctr">
              <a:buNone/>
            </a:pPr>
            <a:r>
              <a:rPr lang="en-US" sz="1150" b="1" dirty="0">
                <a:solidFill>
                  <a:srgbClr val="163B2E"/>
                </a:solidFill>
              </a:rPr>
              <a:t>Baseline models</a:t>
            </a:r>
            <a:endParaRPr lang="en-US" sz="1150" dirty="0"/>
          </a:p>
        </p:txBody>
      </p:sp>
      <p:sp>
        <p:nvSpPr>
          <p:cNvPr id="28" name="Text 26"/>
          <p:cNvSpPr/>
          <p:nvPr/>
        </p:nvSpPr>
        <p:spPr>
          <a:xfrm>
            <a:off x="4882896" y="4882896"/>
            <a:ext cx="1783080" cy="438912"/>
          </a:xfrm>
          <a:prstGeom prst="rect">
            <a:avLst/>
          </a:prstGeom>
          <a:noFill/>
          <a:ln/>
        </p:spPr>
        <p:txBody>
          <a:bodyPr wrap="square" lIns="0" tIns="0" rIns="0" bIns="0" rtlCol="0" anchor="ctr">
            <a:normAutofit/>
          </a:bodyPr>
          <a:lstStyle/>
          <a:p>
            <a:pPr marL="0" indent="0" algn="ctr">
              <a:buNone/>
            </a:pPr>
            <a:r>
              <a:rPr lang="en-US" sz="920" dirty="0">
                <a:solidFill>
                  <a:srgbClr val="69756E"/>
                </a:solidFill>
              </a:rPr>
              <a:t>Logistic, KNN, SVM, tree, RF</a:t>
            </a:r>
            <a:endParaRPr lang="en-US" sz="920" dirty="0"/>
          </a:p>
        </p:txBody>
      </p:sp>
      <p:sp>
        <p:nvSpPr>
          <p:cNvPr id="29" name="Shape 27"/>
          <p:cNvSpPr/>
          <p:nvPr/>
        </p:nvSpPr>
        <p:spPr>
          <a:xfrm>
            <a:off x="8174736" y="4187952"/>
            <a:ext cx="1207008" cy="0"/>
          </a:xfrm>
          <a:prstGeom prst="line">
            <a:avLst/>
          </a:prstGeom>
          <a:noFill/>
          <a:ln w="19050">
            <a:solidFill>
              <a:srgbClr val="B8BDB8"/>
            </a:solidFill>
            <a:prstDash val="solid"/>
          </a:ln>
        </p:spPr>
        <p:txBody>
          <a:bodyPr/>
          <a:lstStyle/>
          <a:p>
            <a:endParaRPr lang="en-US"/>
          </a:p>
        </p:txBody>
      </p:sp>
      <p:sp>
        <p:nvSpPr>
          <p:cNvPr id="30" name="Shape 28"/>
          <p:cNvSpPr/>
          <p:nvPr/>
        </p:nvSpPr>
        <p:spPr>
          <a:xfrm>
            <a:off x="7214616" y="3886200"/>
            <a:ext cx="621792" cy="621792"/>
          </a:xfrm>
          <a:prstGeom prst="ellipse">
            <a:avLst/>
          </a:prstGeom>
          <a:solidFill>
            <a:srgbClr val="8A948E"/>
          </a:solidFill>
          <a:ln w="12700">
            <a:solidFill>
              <a:srgbClr val="8A948E"/>
            </a:solidFill>
            <a:prstDash val="solid"/>
          </a:ln>
        </p:spPr>
        <p:txBody>
          <a:bodyPr/>
          <a:lstStyle/>
          <a:p>
            <a:endParaRPr lang="en-US"/>
          </a:p>
        </p:txBody>
      </p:sp>
      <p:sp>
        <p:nvSpPr>
          <p:cNvPr id="31" name="Text 29"/>
          <p:cNvSpPr/>
          <p:nvPr/>
        </p:nvSpPr>
        <p:spPr>
          <a:xfrm>
            <a:off x="7251192" y="4087368"/>
            <a:ext cx="548640" cy="146304"/>
          </a:xfrm>
          <a:prstGeom prst="rect">
            <a:avLst/>
          </a:prstGeom>
          <a:noFill/>
          <a:ln/>
        </p:spPr>
        <p:txBody>
          <a:bodyPr wrap="square" lIns="0" tIns="0" rIns="0" bIns="0" rtlCol="0" anchor="ctr"/>
          <a:lstStyle/>
          <a:p>
            <a:pPr marL="0" indent="0" algn="ctr">
              <a:buNone/>
            </a:pPr>
            <a:r>
              <a:rPr lang="en-US" sz="950" b="1" dirty="0">
                <a:solidFill>
                  <a:srgbClr val="FFFFFF"/>
                </a:solidFill>
              </a:rPr>
              <a:t>04</a:t>
            </a:r>
            <a:endParaRPr lang="en-US" sz="950" dirty="0"/>
          </a:p>
        </p:txBody>
      </p:sp>
      <p:sp>
        <p:nvSpPr>
          <p:cNvPr id="32" name="Text 30"/>
          <p:cNvSpPr/>
          <p:nvPr/>
        </p:nvSpPr>
        <p:spPr>
          <a:xfrm>
            <a:off x="7123176" y="4608576"/>
            <a:ext cx="1600200" cy="201168"/>
          </a:xfrm>
          <a:prstGeom prst="rect">
            <a:avLst/>
          </a:prstGeom>
          <a:noFill/>
          <a:ln/>
        </p:spPr>
        <p:txBody>
          <a:bodyPr wrap="square" lIns="0" tIns="0" rIns="0" bIns="0" rtlCol="0" anchor="ctr"/>
          <a:lstStyle/>
          <a:p>
            <a:pPr marL="0" indent="0" algn="ctr">
              <a:buNone/>
            </a:pPr>
            <a:r>
              <a:rPr lang="en-US" sz="1150" b="1" dirty="0">
                <a:solidFill>
                  <a:srgbClr val="163B2E"/>
                </a:solidFill>
              </a:rPr>
              <a:t>Tune &amp; compare</a:t>
            </a:r>
            <a:endParaRPr lang="en-US" sz="1150" dirty="0"/>
          </a:p>
        </p:txBody>
      </p:sp>
      <p:sp>
        <p:nvSpPr>
          <p:cNvPr id="33" name="Text 31"/>
          <p:cNvSpPr/>
          <p:nvPr/>
        </p:nvSpPr>
        <p:spPr>
          <a:xfrm>
            <a:off x="7050024" y="4882896"/>
            <a:ext cx="1783080" cy="438912"/>
          </a:xfrm>
          <a:prstGeom prst="rect">
            <a:avLst/>
          </a:prstGeom>
          <a:noFill/>
          <a:ln/>
        </p:spPr>
        <p:txBody>
          <a:bodyPr wrap="square" lIns="0" tIns="0" rIns="0" bIns="0" rtlCol="0" anchor="ctr">
            <a:normAutofit/>
          </a:bodyPr>
          <a:lstStyle/>
          <a:p>
            <a:pPr marL="0" indent="0" algn="ctr">
              <a:buNone/>
            </a:pPr>
            <a:r>
              <a:rPr lang="en-US" sz="920" dirty="0">
                <a:solidFill>
                  <a:srgbClr val="69756E"/>
                </a:solidFill>
              </a:rPr>
              <a:t>validation / CV, PCA, class weights</a:t>
            </a:r>
            <a:endParaRPr lang="en-US" sz="920" dirty="0"/>
          </a:p>
        </p:txBody>
      </p:sp>
      <p:sp>
        <p:nvSpPr>
          <p:cNvPr id="34" name="Shape 32"/>
          <p:cNvSpPr/>
          <p:nvPr/>
        </p:nvSpPr>
        <p:spPr>
          <a:xfrm>
            <a:off x="9381744" y="3886200"/>
            <a:ext cx="621792" cy="621792"/>
          </a:xfrm>
          <a:prstGeom prst="ellipse">
            <a:avLst/>
          </a:prstGeom>
          <a:solidFill>
            <a:srgbClr val="8A948E"/>
          </a:solidFill>
          <a:ln w="12700">
            <a:solidFill>
              <a:srgbClr val="8A948E"/>
            </a:solidFill>
            <a:prstDash val="solid"/>
          </a:ln>
        </p:spPr>
        <p:txBody>
          <a:bodyPr/>
          <a:lstStyle/>
          <a:p>
            <a:endParaRPr lang="en-US"/>
          </a:p>
        </p:txBody>
      </p:sp>
      <p:sp>
        <p:nvSpPr>
          <p:cNvPr id="35" name="Text 33"/>
          <p:cNvSpPr/>
          <p:nvPr/>
        </p:nvSpPr>
        <p:spPr>
          <a:xfrm>
            <a:off x="9418320" y="4087368"/>
            <a:ext cx="548640" cy="146304"/>
          </a:xfrm>
          <a:prstGeom prst="rect">
            <a:avLst/>
          </a:prstGeom>
          <a:noFill/>
          <a:ln/>
        </p:spPr>
        <p:txBody>
          <a:bodyPr wrap="square" lIns="0" tIns="0" rIns="0" bIns="0" rtlCol="0" anchor="ctr"/>
          <a:lstStyle/>
          <a:p>
            <a:pPr marL="0" indent="0" algn="ctr">
              <a:buNone/>
            </a:pPr>
            <a:r>
              <a:rPr lang="en-US" sz="950" b="1" dirty="0">
                <a:solidFill>
                  <a:srgbClr val="FFFFFF"/>
                </a:solidFill>
              </a:rPr>
              <a:t>05</a:t>
            </a:r>
            <a:endParaRPr lang="en-US" sz="950" dirty="0"/>
          </a:p>
        </p:txBody>
      </p:sp>
      <p:sp>
        <p:nvSpPr>
          <p:cNvPr id="36" name="Text 34"/>
          <p:cNvSpPr/>
          <p:nvPr/>
        </p:nvSpPr>
        <p:spPr>
          <a:xfrm>
            <a:off x="9290304" y="4608576"/>
            <a:ext cx="1600200" cy="201168"/>
          </a:xfrm>
          <a:prstGeom prst="rect">
            <a:avLst/>
          </a:prstGeom>
          <a:noFill/>
          <a:ln/>
        </p:spPr>
        <p:txBody>
          <a:bodyPr wrap="square" lIns="0" tIns="0" rIns="0" bIns="0" rtlCol="0" anchor="ctr"/>
          <a:lstStyle/>
          <a:p>
            <a:pPr marL="0" indent="0" algn="ctr">
              <a:buNone/>
            </a:pPr>
            <a:r>
              <a:rPr lang="en-US" sz="1150" b="1" dirty="0">
                <a:solidFill>
                  <a:srgbClr val="163B2E"/>
                </a:solidFill>
              </a:rPr>
              <a:t>Final analysis</a:t>
            </a:r>
            <a:endParaRPr lang="en-US" sz="1150" dirty="0"/>
          </a:p>
        </p:txBody>
      </p:sp>
      <p:sp>
        <p:nvSpPr>
          <p:cNvPr id="37" name="Text 35"/>
          <p:cNvSpPr/>
          <p:nvPr/>
        </p:nvSpPr>
        <p:spPr>
          <a:xfrm>
            <a:off x="9217152" y="4882896"/>
            <a:ext cx="1783080" cy="438912"/>
          </a:xfrm>
          <a:prstGeom prst="rect">
            <a:avLst/>
          </a:prstGeom>
          <a:noFill/>
          <a:ln/>
        </p:spPr>
        <p:txBody>
          <a:bodyPr wrap="square" lIns="0" tIns="0" rIns="0" bIns="0" rtlCol="0" anchor="ctr">
            <a:normAutofit/>
          </a:bodyPr>
          <a:lstStyle/>
          <a:p>
            <a:pPr marL="0" indent="0" algn="ctr">
              <a:buNone/>
            </a:pPr>
            <a:r>
              <a:rPr lang="en-US" sz="920" dirty="0">
                <a:solidFill>
                  <a:srgbClr val="69756E"/>
                </a:solidFill>
              </a:rPr>
              <a:t>confusion matrix, errors, discussion</a:t>
            </a:r>
            <a:endParaRPr lang="en-US" sz="920" dirty="0"/>
          </a:p>
        </p:txBody>
      </p:sp>
      <p:sp>
        <p:nvSpPr>
          <p:cNvPr id="38" name="Shape 36"/>
          <p:cNvSpPr/>
          <p:nvPr/>
        </p:nvSpPr>
        <p:spPr>
          <a:xfrm>
            <a:off x="1965960" y="5596128"/>
            <a:ext cx="8229600" cy="475488"/>
          </a:xfrm>
          <a:prstGeom prst="roundRect">
            <a:avLst>
              <a:gd name="adj" fmla="val 15385"/>
            </a:avLst>
          </a:prstGeom>
          <a:solidFill>
            <a:srgbClr val="163B2E"/>
          </a:solidFill>
          <a:ln w="12700">
            <a:solidFill>
              <a:srgbClr val="163B2E"/>
            </a:solidFill>
            <a:prstDash val="solid"/>
          </a:ln>
        </p:spPr>
        <p:txBody>
          <a:bodyPr/>
          <a:lstStyle/>
          <a:p>
            <a:endParaRPr lang="en-US"/>
          </a:p>
        </p:txBody>
      </p:sp>
      <p:sp>
        <p:nvSpPr>
          <p:cNvPr id="39" name="Text 37"/>
          <p:cNvSpPr/>
          <p:nvPr/>
        </p:nvSpPr>
        <p:spPr>
          <a:xfrm>
            <a:off x="2212848" y="5733288"/>
            <a:ext cx="7735824" cy="201168"/>
          </a:xfrm>
          <a:prstGeom prst="rect">
            <a:avLst/>
          </a:prstGeom>
          <a:noFill/>
          <a:ln/>
        </p:spPr>
        <p:txBody>
          <a:bodyPr wrap="square" lIns="0" tIns="0" rIns="0" bIns="0" rtlCol="0" anchor="ctr">
            <a:normAutofit fontScale="85000" lnSpcReduction="10000"/>
          </a:bodyPr>
          <a:lstStyle/>
          <a:p>
            <a:pPr marL="0" indent="0" algn="ctr">
              <a:buNone/>
            </a:pPr>
            <a:r>
              <a:rPr lang="en-US" sz="1210" b="1" dirty="0">
                <a:solidFill>
                  <a:srgbClr val="FFFFFF"/>
                </a:solidFill>
              </a:rPr>
              <a:t>End product: the best classical pipeline + an explanation of why it works, where it fails, and how trustworthy the reported score is.</a:t>
            </a:r>
            <a:endParaRPr lang="en-US" sz="1210" dirty="0"/>
          </a:p>
        </p:txBody>
      </p:sp>
      <p:sp>
        <p:nvSpPr>
          <p:cNvPr id="40" name="Text 38"/>
          <p:cNvSpPr/>
          <p:nvPr/>
        </p:nvSpPr>
        <p:spPr>
          <a:xfrm>
            <a:off x="5943600" y="6583680"/>
            <a:ext cx="5212080" cy="164592"/>
          </a:xfrm>
          <a:prstGeom prst="rect">
            <a:avLst/>
          </a:prstGeom>
          <a:noFill/>
          <a:ln/>
        </p:spPr>
        <p:txBody>
          <a:bodyPr wrap="square" lIns="0" tIns="0" rIns="0" bIns="0" rtlCol="0" anchor="ctr">
            <a:normAutofit/>
          </a:bodyPr>
          <a:lstStyle/>
          <a:p>
            <a:pPr marL="0" indent="0" algn="r">
              <a:buNone/>
            </a:pPr>
            <a:r>
              <a:rPr lang="en-US" sz="740" i="1" dirty="0">
                <a:solidFill>
                  <a:srgbClr val="8A918C"/>
                </a:solidFill>
              </a:rPr>
              <a:t>Goal: reproducible code, meaningful experiments, and error analysis.</a:t>
            </a:r>
            <a:endParaRPr lang="en-US" sz="740" dirty="0"/>
          </a:p>
        </p:txBody>
      </p:sp>
      <p:sp>
        <p:nvSpPr>
          <p:cNvPr id="41" name="Slide Number Placeholder 0"/>
          <p:cNvSpPr>
            <a:spLocks noGrp="1"/>
          </p:cNvSpPr>
          <p:nvPr>
            <p:ph type="sldNum" sz="quarter" idx="4294967295"/>
          </p:nvPr>
        </p:nvSpPr>
        <p:spPr>
          <a:xfrm>
            <a:off x="11292840" y="6574536"/>
            <a:ext cx="41148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788078"/>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0040"/>
            <a:ext cx="4114800" cy="228600"/>
          </a:xfrm>
          <a:prstGeom prst="rect">
            <a:avLst/>
          </a:prstGeom>
          <a:noFill/>
          <a:ln/>
        </p:spPr>
        <p:txBody>
          <a:bodyPr wrap="square" lIns="0" tIns="0" rIns="0" bIns="0" rtlCol="0" anchor="ctr"/>
          <a:lstStyle/>
          <a:p>
            <a:pPr marL="0" indent="0">
              <a:buNone/>
            </a:pPr>
            <a:r>
              <a:rPr lang="en-US" sz="1000" b="1" dirty="0">
                <a:solidFill>
                  <a:srgbClr val="D9A441"/>
                </a:solidFill>
              </a:rPr>
              <a:t>SELECTED SOURCES</a:t>
            </a:r>
            <a:endParaRPr lang="en-US" sz="1000" dirty="0"/>
          </a:p>
        </p:txBody>
      </p:sp>
      <p:sp>
        <p:nvSpPr>
          <p:cNvPr id="3" name="Text 1"/>
          <p:cNvSpPr/>
          <p:nvPr/>
        </p:nvSpPr>
        <p:spPr>
          <a:xfrm>
            <a:off x="502920" y="566928"/>
            <a:ext cx="11064240" cy="566928"/>
          </a:xfrm>
          <a:prstGeom prst="rect">
            <a:avLst/>
          </a:prstGeom>
          <a:noFill/>
          <a:ln/>
        </p:spPr>
        <p:txBody>
          <a:bodyPr wrap="square" lIns="0" tIns="0" rIns="0" bIns="0" rtlCol="0" anchor="ctr">
            <a:normAutofit/>
          </a:bodyPr>
          <a:lstStyle/>
          <a:p>
            <a:pPr marL="0" indent="0">
              <a:buNone/>
            </a:pPr>
            <a:r>
              <a:rPr lang="en-US" sz="2700" b="1" dirty="0">
                <a:solidFill>
                  <a:srgbClr val="163B2E"/>
                </a:solidFill>
              </a:rPr>
              <a:t>References</a:t>
            </a:r>
            <a:endParaRPr lang="en-US" sz="2700" dirty="0"/>
          </a:p>
        </p:txBody>
      </p:sp>
      <p:sp>
        <p:nvSpPr>
          <p:cNvPr id="4" name="Shape 2"/>
          <p:cNvSpPr/>
          <p:nvPr/>
        </p:nvSpPr>
        <p:spPr>
          <a:xfrm>
            <a:off x="658368" y="1371600"/>
            <a:ext cx="438912" cy="438912"/>
          </a:xfrm>
          <a:prstGeom prst="roundRect">
            <a:avLst>
              <a:gd name="adj" fmla="val 16667"/>
            </a:avLst>
          </a:prstGeom>
          <a:solidFill>
            <a:srgbClr val="E7EFE8"/>
          </a:solidFill>
          <a:ln w="12700">
            <a:solidFill>
              <a:srgbClr val="CFE0D3"/>
            </a:solidFill>
            <a:prstDash val="solid"/>
          </a:ln>
        </p:spPr>
        <p:txBody>
          <a:bodyPr/>
          <a:lstStyle/>
          <a:p>
            <a:endParaRPr lang="en-US"/>
          </a:p>
        </p:txBody>
      </p:sp>
      <p:sp>
        <p:nvSpPr>
          <p:cNvPr id="5" name="Text 3"/>
          <p:cNvSpPr/>
          <p:nvPr/>
        </p:nvSpPr>
        <p:spPr>
          <a:xfrm>
            <a:off x="713232" y="1508760"/>
            <a:ext cx="329184" cy="146304"/>
          </a:xfrm>
          <a:prstGeom prst="rect">
            <a:avLst/>
          </a:prstGeom>
          <a:noFill/>
          <a:ln/>
        </p:spPr>
        <p:txBody>
          <a:bodyPr wrap="square" lIns="0" tIns="0" rIns="0" bIns="0" rtlCol="0" anchor="ctr"/>
          <a:lstStyle/>
          <a:p>
            <a:pPr marL="0" indent="0" algn="ctr">
              <a:buNone/>
            </a:pPr>
            <a:r>
              <a:rPr lang="en-US" sz="850" b="1" dirty="0">
                <a:solidFill>
                  <a:srgbClr val="2E6A4D"/>
                </a:solidFill>
              </a:rPr>
              <a:t>01</a:t>
            </a:r>
            <a:endParaRPr lang="en-US" sz="850" dirty="0"/>
          </a:p>
        </p:txBody>
      </p:sp>
      <p:sp>
        <p:nvSpPr>
          <p:cNvPr id="6" name="Text 4"/>
          <p:cNvSpPr/>
          <p:nvPr/>
        </p:nvSpPr>
        <p:spPr>
          <a:xfrm>
            <a:off x="1298448" y="1353312"/>
            <a:ext cx="9829800" cy="521208"/>
          </a:xfrm>
          <a:prstGeom prst="rect">
            <a:avLst/>
          </a:prstGeom>
          <a:noFill/>
          <a:ln/>
        </p:spPr>
        <p:txBody>
          <a:bodyPr wrap="square" lIns="0" tIns="0" rIns="0" bIns="0" rtlCol="0" anchor="ctr">
            <a:normAutofit/>
          </a:bodyPr>
          <a:lstStyle/>
          <a:p>
            <a:pPr marL="0" indent="0">
              <a:buNone/>
            </a:pPr>
            <a:r>
              <a:rPr lang="en-US" sz="1220" dirty="0">
                <a:solidFill>
                  <a:srgbClr val="1B2520"/>
                </a:solidFill>
              </a:rPr>
              <a:t>UCI Machine Learning Repository. “Jute Pest.” Dataset ID 920, DOI: 10.24432/C5289P. Created 2024. CC BY 4.0.</a:t>
            </a:r>
            <a:endParaRPr lang="en-US" sz="1220" dirty="0"/>
          </a:p>
        </p:txBody>
      </p:sp>
      <p:sp>
        <p:nvSpPr>
          <p:cNvPr id="7" name="Shape 5"/>
          <p:cNvSpPr/>
          <p:nvPr/>
        </p:nvSpPr>
        <p:spPr>
          <a:xfrm>
            <a:off x="658368" y="2121408"/>
            <a:ext cx="438912" cy="438912"/>
          </a:xfrm>
          <a:prstGeom prst="roundRect">
            <a:avLst>
              <a:gd name="adj" fmla="val 16667"/>
            </a:avLst>
          </a:prstGeom>
          <a:solidFill>
            <a:srgbClr val="E7EFE8"/>
          </a:solidFill>
          <a:ln w="12700">
            <a:solidFill>
              <a:srgbClr val="CFE0D3"/>
            </a:solidFill>
            <a:prstDash val="solid"/>
          </a:ln>
        </p:spPr>
        <p:txBody>
          <a:bodyPr/>
          <a:lstStyle/>
          <a:p>
            <a:endParaRPr lang="en-US"/>
          </a:p>
        </p:txBody>
      </p:sp>
      <p:sp>
        <p:nvSpPr>
          <p:cNvPr id="8" name="Text 6"/>
          <p:cNvSpPr/>
          <p:nvPr/>
        </p:nvSpPr>
        <p:spPr>
          <a:xfrm>
            <a:off x="713232" y="2258568"/>
            <a:ext cx="329184" cy="146304"/>
          </a:xfrm>
          <a:prstGeom prst="rect">
            <a:avLst/>
          </a:prstGeom>
          <a:noFill/>
          <a:ln/>
        </p:spPr>
        <p:txBody>
          <a:bodyPr wrap="square" lIns="0" tIns="0" rIns="0" bIns="0" rtlCol="0" anchor="ctr"/>
          <a:lstStyle/>
          <a:p>
            <a:pPr marL="0" indent="0" algn="ctr">
              <a:buNone/>
            </a:pPr>
            <a:r>
              <a:rPr lang="en-US" sz="850" b="1" dirty="0">
                <a:solidFill>
                  <a:srgbClr val="2E6A4D"/>
                </a:solidFill>
              </a:rPr>
              <a:t>02</a:t>
            </a:r>
            <a:endParaRPr lang="en-US" sz="850" dirty="0"/>
          </a:p>
        </p:txBody>
      </p:sp>
      <p:sp>
        <p:nvSpPr>
          <p:cNvPr id="9" name="Text 7"/>
          <p:cNvSpPr/>
          <p:nvPr/>
        </p:nvSpPr>
        <p:spPr>
          <a:xfrm>
            <a:off x="1298448" y="2103120"/>
            <a:ext cx="9829800" cy="521208"/>
          </a:xfrm>
          <a:prstGeom prst="rect">
            <a:avLst/>
          </a:prstGeom>
          <a:noFill/>
          <a:ln/>
        </p:spPr>
        <p:txBody>
          <a:bodyPr wrap="square" lIns="0" tIns="0" rIns="0" bIns="0" rtlCol="0" anchor="ctr">
            <a:normAutofit/>
          </a:bodyPr>
          <a:lstStyle/>
          <a:p>
            <a:pPr marL="0" indent="0">
              <a:buNone/>
            </a:pPr>
            <a:r>
              <a:rPr lang="en-US" sz="1220" dirty="0">
                <a:solidFill>
                  <a:srgbClr val="1B2520"/>
                </a:solidFill>
              </a:rPr>
              <a:t>Talukder, S. H., et al. “JutePestDetect: An intelligent approach for jute pest identification using fine-tuned transfer learning.” Smart Agricultural Technology 5 (2023): 100279. DOI: 10.1016/j.atech.2023.100279.</a:t>
            </a:r>
            <a:endParaRPr lang="en-US" sz="1220" dirty="0"/>
          </a:p>
        </p:txBody>
      </p:sp>
      <p:sp>
        <p:nvSpPr>
          <p:cNvPr id="10" name="Shape 8"/>
          <p:cNvSpPr/>
          <p:nvPr/>
        </p:nvSpPr>
        <p:spPr>
          <a:xfrm>
            <a:off x="658368" y="2871216"/>
            <a:ext cx="438912" cy="438912"/>
          </a:xfrm>
          <a:prstGeom prst="roundRect">
            <a:avLst>
              <a:gd name="adj" fmla="val 16667"/>
            </a:avLst>
          </a:prstGeom>
          <a:solidFill>
            <a:srgbClr val="E7EFE8"/>
          </a:solidFill>
          <a:ln w="12700">
            <a:solidFill>
              <a:srgbClr val="CFE0D3"/>
            </a:solidFill>
            <a:prstDash val="solid"/>
          </a:ln>
        </p:spPr>
        <p:txBody>
          <a:bodyPr/>
          <a:lstStyle/>
          <a:p>
            <a:endParaRPr lang="en-US"/>
          </a:p>
        </p:txBody>
      </p:sp>
      <p:sp>
        <p:nvSpPr>
          <p:cNvPr id="11" name="Text 9"/>
          <p:cNvSpPr/>
          <p:nvPr/>
        </p:nvSpPr>
        <p:spPr>
          <a:xfrm>
            <a:off x="713232" y="3008376"/>
            <a:ext cx="329184" cy="146304"/>
          </a:xfrm>
          <a:prstGeom prst="rect">
            <a:avLst/>
          </a:prstGeom>
          <a:noFill/>
          <a:ln/>
        </p:spPr>
        <p:txBody>
          <a:bodyPr wrap="square" lIns="0" tIns="0" rIns="0" bIns="0" rtlCol="0" anchor="ctr"/>
          <a:lstStyle/>
          <a:p>
            <a:pPr marL="0" indent="0" algn="ctr">
              <a:buNone/>
            </a:pPr>
            <a:r>
              <a:rPr lang="en-US" sz="850" b="1" dirty="0">
                <a:solidFill>
                  <a:srgbClr val="2E6A4D"/>
                </a:solidFill>
              </a:rPr>
              <a:t>03</a:t>
            </a:r>
            <a:endParaRPr lang="en-US" sz="850" dirty="0"/>
          </a:p>
        </p:txBody>
      </p:sp>
      <p:sp>
        <p:nvSpPr>
          <p:cNvPr id="12" name="Text 10"/>
          <p:cNvSpPr/>
          <p:nvPr/>
        </p:nvSpPr>
        <p:spPr>
          <a:xfrm>
            <a:off x="1298448" y="2852928"/>
            <a:ext cx="9829800" cy="521208"/>
          </a:xfrm>
          <a:prstGeom prst="rect">
            <a:avLst/>
          </a:prstGeom>
          <a:noFill/>
          <a:ln/>
        </p:spPr>
        <p:txBody>
          <a:bodyPr wrap="square" lIns="0" tIns="0" rIns="0" bIns="0" rtlCol="0" anchor="ctr">
            <a:normAutofit/>
          </a:bodyPr>
          <a:lstStyle/>
          <a:p>
            <a:pPr marL="0" indent="0">
              <a:buNone/>
            </a:pPr>
            <a:r>
              <a:rPr lang="en-US" sz="1220" dirty="0">
                <a:solidFill>
                  <a:srgbClr val="1B2520"/>
                </a:solidFill>
              </a:rPr>
              <a:t>Islam, M. T., &amp; Rahman, M. S. “An Efficient Deep Learning Approach for Jute Pest Classification Using Transfer Learning.” 2024 6th ICEEICT, pp. 1473–1478. DOI: 10.1109/ICEEICT62016.2024.10534395.</a:t>
            </a:r>
            <a:endParaRPr lang="en-US" sz="1220" dirty="0"/>
          </a:p>
        </p:txBody>
      </p:sp>
      <p:sp>
        <p:nvSpPr>
          <p:cNvPr id="13" name="Shape 11"/>
          <p:cNvSpPr/>
          <p:nvPr/>
        </p:nvSpPr>
        <p:spPr>
          <a:xfrm>
            <a:off x="658368" y="3621024"/>
            <a:ext cx="438912" cy="438912"/>
          </a:xfrm>
          <a:prstGeom prst="roundRect">
            <a:avLst>
              <a:gd name="adj" fmla="val 16667"/>
            </a:avLst>
          </a:prstGeom>
          <a:solidFill>
            <a:srgbClr val="E7EFE8"/>
          </a:solidFill>
          <a:ln w="12700">
            <a:solidFill>
              <a:srgbClr val="CFE0D3"/>
            </a:solidFill>
            <a:prstDash val="solid"/>
          </a:ln>
        </p:spPr>
        <p:txBody>
          <a:bodyPr/>
          <a:lstStyle/>
          <a:p>
            <a:endParaRPr lang="en-US"/>
          </a:p>
        </p:txBody>
      </p:sp>
      <p:sp>
        <p:nvSpPr>
          <p:cNvPr id="14" name="Text 12"/>
          <p:cNvSpPr/>
          <p:nvPr/>
        </p:nvSpPr>
        <p:spPr>
          <a:xfrm>
            <a:off x="713232" y="3758184"/>
            <a:ext cx="329184" cy="146304"/>
          </a:xfrm>
          <a:prstGeom prst="rect">
            <a:avLst/>
          </a:prstGeom>
          <a:noFill/>
          <a:ln/>
        </p:spPr>
        <p:txBody>
          <a:bodyPr wrap="square" lIns="0" tIns="0" rIns="0" bIns="0" rtlCol="0" anchor="ctr"/>
          <a:lstStyle/>
          <a:p>
            <a:pPr marL="0" indent="0" algn="ctr">
              <a:buNone/>
            </a:pPr>
            <a:r>
              <a:rPr lang="en-US" sz="850" b="1" dirty="0">
                <a:solidFill>
                  <a:srgbClr val="2E6A4D"/>
                </a:solidFill>
              </a:rPr>
              <a:t>04</a:t>
            </a:r>
            <a:endParaRPr lang="en-US" sz="850" dirty="0"/>
          </a:p>
        </p:txBody>
      </p:sp>
      <p:sp>
        <p:nvSpPr>
          <p:cNvPr id="15" name="Text 13"/>
          <p:cNvSpPr/>
          <p:nvPr/>
        </p:nvSpPr>
        <p:spPr>
          <a:xfrm>
            <a:off x="1298448" y="3602736"/>
            <a:ext cx="9829800" cy="521208"/>
          </a:xfrm>
          <a:prstGeom prst="rect">
            <a:avLst/>
          </a:prstGeom>
          <a:noFill/>
          <a:ln/>
        </p:spPr>
        <p:txBody>
          <a:bodyPr wrap="square" lIns="0" tIns="0" rIns="0" bIns="0" rtlCol="0" anchor="ctr">
            <a:normAutofit/>
          </a:bodyPr>
          <a:lstStyle/>
          <a:p>
            <a:pPr marL="0" indent="0">
              <a:buNone/>
            </a:pPr>
            <a:r>
              <a:rPr lang="en-US" sz="1220" dirty="0">
                <a:solidFill>
                  <a:srgbClr val="1B2520"/>
                </a:solidFill>
              </a:rPr>
              <a:t>Kiziloluk, S., et al. “A novel feature fusion and mountain gazelle optimizer based framework for the recognition of jute pests in sustainable agriculture.” Scientific Reports 15, 18148 (2025).</a:t>
            </a:r>
            <a:endParaRPr lang="en-US" sz="1220" dirty="0"/>
          </a:p>
        </p:txBody>
      </p:sp>
      <p:sp>
        <p:nvSpPr>
          <p:cNvPr id="16" name="Shape 14"/>
          <p:cNvSpPr/>
          <p:nvPr/>
        </p:nvSpPr>
        <p:spPr>
          <a:xfrm>
            <a:off x="658368" y="4370832"/>
            <a:ext cx="438912" cy="438912"/>
          </a:xfrm>
          <a:prstGeom prst="roundRect">
            <a:avLst>
              <a:gd name="adj" fmla="val 16667"/>
            </a:avLst>
          </a:prstGeom>
          <a:solidFill>
            <a:srgbClr val="F4EAD1"/>
          </a:solidFill>
          <a:ln w="12700">
            <a:solidFill>
              <a:srgbClr val="E7D9A8"/>
            </a:solidFill>
            <a:prstDash val="solid"/>
          </a:ln>
        </p:spPr>
        <p:txBody>
          <a:bodyPr/>
          <a:lstStyle/>
          <a:p>
            <a:endParaRPr lang="en-US"/>
          </a:p>
        </p:txBody>
      </p:sp>
      <p:sp>
        <p:nvSpPr>
          <p:cNvPr id="17" name="Text 15"/>
          <p:cNvSpPr/>
          <p:nvPr/>
        </p:nvSpPr>
        <p:spPr>
          <a:xfrm>
            <a:off x="713232" y="4507992"/>
            <a:ext cx="329184" cy="146304"/>
          </a:xfrm>
          <a:prstGeom prst="rect">
            <a:avLst/>
          </a:prstGeom>
          <a:noFill/>
          <a:ln/>
        </p:spPr>
        <p:txBody>
          <a:bodyPr wrap="square" lIns="0" tIns="0" rIns="0" bIns="0" rtlCol="0" anchor="ctr"/>
          <a:lstStyle/>
          <a:p>
            <a:pPr marL="0" indent="0" algn="ctr">
              <a:buNone/>
            </a:pPr>
            <a:r>
              <a:rPr lang="en-US" sz="850" b="1" dirty="0">
                <a:solidFill>
                  <a:srgbClr val="D9A441"/>
                </a:solidFill>
              </a:rPr>
              <a:t>05</a:t>
            </a:r>
            <a:endParaRPr lang="en-US" sz="850" dirty="0"/>
          </a:p>
        </p:txBody>
      </p:sp>
      <p:sp>
        <p:nvSpPr>
          <p:cNvPr id="18" name="Text 16"/>
          <p:cNvSpPr/>
          <p:nvPr/>
        </p:nvSpPr>
        <p:spPr>
          <a:xfrm>
            <a:off x="1298448" y="4352544"/>
            <a:ext cx="9829800" cy="521208"/>
          </a:xfrm>
          <a:prstGeom prst="rect">
            <a:avLst/>
          </a:prstGeom>
          <a:noFill/>
          <a:ln/>
        </p:spPr>
        <p:txBody>
          <a:bodyPr wrap="square" lIns="0" tIns="0" rIns="0" bIns="0" rtlCol="0" anchor="ctr">
            <a:normAutofit/>
          </a:bodyPr>
          <a:lstStyle/>
          <a:p>
            <a:pPr marL="0" indent="0">
              <a:buNone/>
            </a:pPr>
            <a:r>
              <a:rPr lang="en-US" sz="1220" dirty="0">
                <a:solidFill>
                  <a:srgbClr val="1B2520"/>
                </a:solidFill>
              </a:rPr>
              <a:t>Gultepe, E. CS 590 Machine Learning Project guidelines, SIUE, Fall 2026.</a:t>
            </a:r>
            <a:endParaRPr lang="en-US" sz="1220" dirty="0"/>
          </a:p>
        </p:txBody>
      </p:sp>
      <p:sp>
        <p:nvSpPr>
          <p:cNvPr id="19" name="Shape 17"/>
          <p:cNvSpPr/>
          <p:nvPr/>
        </p:nvSpPr>
        <p:spPr>
          <a:xfrm>
            <a:off x="658368" y="5120640"/>
            <a:ext cx="438912" cy="438912"/>
          </a:xfrm>
          <a:prstGeom prst="roundRect">
            <a:avLst>
              <a:gd name="adj" fmla="val 16667"/>
            </a:avLst>
          </a:prstGeom>
          <a:solidFill>
            <a:srgbClr val="F4EAD1"/>
          </a:solidFill>
          <a:ln w="12700">
            <a:solidFill>
              <a:srgbClr val="E7D9A8"/>
            </a:solidFill>
            <a:prstDash val="solid"/>
          </a:ln>
        </p:spPr>
        <p:txBody>
          <a:bodyPr/>
          <a:lstStyle/>
          <a:p>
            <a:endParaRPr lang="en-US"/>
          </a:p>
        </p:txBody>
      </p:sp>
      <p:sp>
        <p:nvSpPr>
          <p:cNvPr id="20" name="Text 18"/>
          <p:cNvSpPr/>
          <p:nvPr/>
        </p:nvSpPr>
        <p:spPr>
          <a:xfrm>
            <a:off x="713232" y="5257800"/>
            <a:ext cx="329184" cy="146304"/>
          </a:xfrm>
          <a:prstGeom prst="rect">
            <a:avLst/>
          </a:prstGeom>
          <a:noFill/>
          <a:ln/>
        </p:spPr>
        <p:txBody>
          <a:bodyPr wrap="square" lIns="0" tIns="0" rIns="0" bIns="0" rtlCol="0" anchor="ctr"/>
          <a:lstStyle/>
          <a:p>
            <a:pPr marL="0" indent="0" algn="ctr">
              <a:buNone/>
            </a:pPr>
            <a:r>
              <a:rPr lang="en-US" sz="850" b="1" dirty="0">
                <a:solidFill>
                  <a:srgbClr val="D9A441"/>
                </a:solidFill>
              </a:rPr>
              <a:t>06</a:t>
            </a:r>
            <a:endParaRPr lang="en-US" sz="850" dirty="0"/>
          </a:p>
        </p:txBody>
      </p:sp>
      <p:sp>
        <p:nvSpPr>
          <p:cNvPr id="21" name="Text 19"/>
          <p:cNvSpPr/>
          <p:nvPr/>
        </p:nvSpPr>
        <p:spPr>
          <a:xfrm>
            <a:off x="1298448" y="5102352"/>
            <a:ext cx="9829800" cy="521208"/>
          </a:xfrm>
          <a:prstGeom prst="rect">
            <a:avLst/>
          </a:prstGeom>
          <a:noFill/>
          <a:ln/>
        </p:spPr>
        <p:txBody>
          <a:bodyPr wrap="square" lIns="0" tIns="0" rIns="0" bIns="0" rtlCol="0" anchor="ctr">
            <a:normAutofit/>
          </a:bodyPr>
          <a:lstStyle/>
          <a:p>
            <a:pPr marL="0" indent="0">
              <a:buNone/>
            </a:pPr>
            <a:r>
              <a:rPr lang="en-US" sz="1220" dirty="0">
                <a:solidFill>
                  <a:srgbClr val="1B2520"/>
                </a:solidFill>
              </a:rPr>
              <a:t>James, G., Witten, D., Hastie, T., &amp; Tibshirani, R. An Introduction to Statistical Learning. Course reference for classical classification and model evaluation.</a:t>
            </a:r>
            <a:endParaRPr lang="en-US" sz="1220" dirty="0"/>
          </a:p>
        </p:txBody>
      </p:sp>
      <p:sp>
        <p:nvSpPr>
          <p:cNvPr id="22" name="Text 20"/>
          <p:cNvSpPr/>
          <p:nvPr/>
        </p:nvSpPr>
        <p:spPr>
          <a:xfrm>
            <a:off x="685800" y="6126480"/>
            <a:ext cx="10698480" cy="219456"/>
          </a:xfrm>
          <a:prstGeom prst="rect">
            <a:avLst/>
          </a:prstGeom>
          <a:noFill/>
          <a:ln/>
        </p:spPr>
        <p:txBody>
          <a:bodyPr wrap="square" lIns="0" tIns="0" rIns="0" bIns="0" rtlCol="0" anchor="ctr"/>
          <a:lstStyle/>
          <a:p>
            <a:pPr marL="0" indent="0" algn="ctr">
              <a:buNone/>
            </a:pPr>
            <a:r>
              <a:rPr lang="en-US" sz="950" i="1" dirty="0">
                <a:solidFill>
                  <a:srgbClr val="69756E"/>
                </a:solidFill>
              </a:rPr>
              <a:t>Dataset sample images on slides are from the UCI Jute Pest archive under CC BY 4.0.</a:t>
            </a:r>
            <a:endParaRPr lang="en-US" sz="950" dirty="0"/>
          </a:p>
        </p:txBody>
      </p:sp>
      <p:sp>
        <p:nvSpPr>
          <p:cNvPr id="25" name="Slide Number Placeholder 0"/>
          <p:cNvSpPr>
            <a:spLocks noGrp="1"/>
          </p:cNvSpPr>
          <p:nvPr>
            <p:ph type="sldNum" sz="quarter" idx="4294967295"/>
          </p:nvPr>
        </p:nvSpPr>
        <p:spPr>
          <a:xfrm>
            <a:off x="11292840" y="6574536"/>
            <a:ext cx="41148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788078"/>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TotalTime>
  <Words>1463</Words>
  <Application>Microsoft Office PowerPoint</Application>
  <PresentationFormat>Widescreen</PresentationFormat>
  <Paragraphs>185</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Southern Illinois University Edwardsville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Jute Pest Classification Without Deep Learning</dc:title>
  <dc:subject>CS 590 Machine Learning Project Proposal</dc:subject>
  <dc:creator>Obinna Ndubuisi</dc:creator>
  <cp:lastModifiedBy>Ndubuisi, Obinna Charles</cp:lastModifiedBy>
  <cp:revision>3</cp:revision>
  <dcterms:created xsi:type="dcterms:W3CDTF">2026-09-30T18:32:46Z</dcterms:created>
  <dcterms:modified xsi:type="dcterms:W3CDTF">2026-09-30T21:20:25Z</dcterms:modified>
</cp:coreProperties>
</file>